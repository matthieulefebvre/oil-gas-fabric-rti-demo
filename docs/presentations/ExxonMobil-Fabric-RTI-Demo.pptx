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9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F098E5-7583-47B6-8416-61D3713490FA}"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88399-CB83-447A-B5FA-21A9D429C3DE}" type="slidenum">
              <a:rPr lang="en-US" smtClean="0"/>
              <a:t>‹#›</a:t>
            </a:fld>
            <a:endParaRPr lang="en-US"/>
          </a:p>
        </p:txBody>
      </p:sp>
    </p:spTree>
    <p:extLst>
      <p:ext uri="{BB962C8B-B14F-4D97-AF65-F5344CB8AC3E}">
        <p14:creationId xmlns:p14="http://schemas.microsoft.com/office/powerpoint/2010/main" val="341401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PITCH | 45-60 seconds</a:t>
            </a:r>
          </a:p>
          <a:p>
            <a:r>
              <a:rPr lang="en-US"/>
              <a:t>"The question is not whether ExxonMobil needs another time-series database. You already have strong platforms. This demo asks whether we can shorten the path from a compressor signal to a shared, explainable operational answer. We will observe the telemetry, attach the right equipment context, and make the result accessible to more people without losing timestamps, units or evidence."</a:t>
            </a:r>
          </a:p>
          <a:p>
            <a:endParaRPr lang="en-US"/>
          </a:p>
          <a:p>
            <a:r>
              <a:rPr lang="en-US"/>
              <a:t>Position this as an evaluation of integration value, not a replacement proposal. All assets and values are synthetic. No plant connection, production diagnosis, equipment action or autonomous decision is demonstrated.</a:t>
            </a:r>
          </a:p>
          <a:p>
            <a:endParaRPr lang="en-US"/>
          </a:p>
          <a:p>
            <a:r>
              <a:rPr lang="en-US"/>
              <a:t>TRANSITION</a:t>
            </a:r>
          </a:p>
          <a:p>
            <a:r>
              <a:rPr lang="en-US"/>
              <a:t>"Let us follow one simple operational question through the experience."</a:t>
            </a:r>
          </a:p>
          <a:p>
            <a:endParaRPr lang="en-US"/>
          </a:p>
          <a:p>
            <a:r>
              <a:rPr lang="en-US"/>
              <a:t>PRESENTER CHECK</a:t>
            </a:r>
          </a:p>
          <a:p>
            <a:r>
              <a:rPr lang="en-US"/>
              <a:t>The three-hour load has finished. Do not describe the system as continuously receiving new data now unless a new authorized load has actually been started.</a:t>
            </a:r>
          </a:p>
        </p:txBody>
      </p:sp>
      <p:sp>
        <p:nvSpPr>
          <p:cNvPr id="4" name="Slide Number Placeholder 3"/>
          <p:cNvSpPr>
            <a:spLocks noGrp="1"/>
          </p:cNvSpPr>
          <p:nvPr>
            <p:ph type="sldNum" sz="quarter" idx="5"/>
          </p:nvPr>
        </p:nvSpPr>
        <p:spPr/>
        <p:txBody>
          <a:bodyPr/>
          <a:lstStyle/>
          <a:p>
            <a:fld id="{18188399-CB83-447A-B5FA-21A9D429C3DE}" type="slidenum">
              <a:rPr lang="en-US" smtClean="0"/>
              <a:t>1</a:t>
            </a:fld>
            <a:endParaRPr lang="en-US"/>
          </a:p>
        </p:txBody>
      </p:sp>
    </p:spTree>
    <p:extLst>
      <p:ext uri="{BB962C8B-B14F-4D97-AF65-F5344CB8AC3E}">
        <p14:creationId xmlns:p14="http://schemas.microsoft.com/office/powerpoint/2010/main" val="3959173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PITCH | 60 seconds</a:t>
            </a:r>
          </a:p>
          <a:p>
            <a:r>
              <a:rPr lang="en-US"/>
              <a:t>"Start with pressure history, not a product tour. Then ask what changed for Compressor 1. That name occurs at more than one synthetic site, so a useful answer must resolve the site and scoped asset first. The final step is an operational question in plain language, grounded in curated KQL functions rather than an unbounded guess."</a:t>
            </a:r>
          </a:p>
          <a:p>
            <a:endParaRPr lang="en-US"/>
          </a:p>
          <a:p>
            <a:r>
              <a:rPr lang="en-US"/>
              <a:t>Suggested sequence: use a fixed historical pressure window, show the site-to-compressor-to-component relationship with the native graph query, then ask the published Data Agent to compare two scoped compressors. Keep these as separate, verified demonstrations: native graph traversal works, while the graph-agent CSV format still fails acceptance. Do not imply that the full graph-to-conversation path is already qualified.</a:t>
            </a:r>
          </a:p>
          <a:p>
            <a:endParaRPr lang="en-US"/>
          </a:p>
          <a:p>
            <a:r>
              <a:rPr lang="en-US"/>
              <a:t>Five operational KQL-agent cases passed: historical high count, current stale-data handling before the volume load, site inventory, historical comparison and ambiguous-asset handling. The current freshness answer depends on when the query is run. A historical acceptance result is not a promise that every answer will repeat identically.</a:t>
            </a:r>
          </a:p>
          <a:p>
            <a:endParaRPr lang="en-US"/>
          </a:p>
          <a:p>
            <a:r>
              <a:rPr lang="en-US"/>
              <a:t>TRANSITION</a:t>
            </a:r>
          </a:p>
          <a:p>
            <a:r>
              <a:rPr lang="en-US"/>
              <a:t>"Here is the architecture behind those three steps, including the route actually used today."</a:t>
            </a:r>
          </a:p>
        </p:txBody>
      </p:sp>
      <p:sp>
        <p:nvSpPr>
          <p:cNvPr id="4" name="Slide Number Placeholder 3"/>
          <p:cNvSpPr>
            <a:spLocks noGrp="1"/>
          </p:cNvSpPr>
          <p:nvPr>
            <p:ph type="sldNum" sz="quarter" idx="5"/>
          </p:nvPr>
        </p:nvSpPr>
        <p:spPr/>
        <p:txBody>
          <a:bodyPr/>
          <a:lstStyle/>
          <a:p>
            <a:fld id="{18188399-CB83-447A-B5FA-21A9D429C3DE}" type="slidenum">
              <a:rPr lang="en-US" smtClean="0"/>
              <a:t>2</a:t>
            </a:fld>
            <a:endParaRPr lang="en-US"/>
          </a:p>
        </p:txBody>
      </p:sp>
    </p:spTree>
    <p:extLst>
      <p:ext uri="{BB962C8B-B14F-4D97-AF65-F5344CB8AC3E}">
        <p14:creationId xmlns:p14="http://schemas.microsoft.com/office/powerpoint/2010/main" val="3651455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PITCH | 90 seconds</a:t>
            </a:r>
          </a:p>
          <a:p>
            <a:r>
              <a:rPr lang="en-US"/>
              <a:t>"The solid top path is what we can explain with evidence: the shared synthetic generator loads Eventhouse directly; KQL preserves raw data, normalizes it and exposes curated operational functions. The operational model identifies site, compressor, component and measurement. Native graph traversal is verified. The published Data Agent has passed five operational KQL scenarios, but its graph CSV serialization still needs qualification."</a:t>
            </a:r>
          </a:p>
          <a:p>
            <a:endParaRPr lang="en-US"/>
          </a:p>
          <a:p>
            <a:r>
              <a:rPr lang="en-US"/>
              <a:t>"OneLake provides a route for reusing operational data with the broader analytical estate. In this demo we independently read a 147-row historical telemetry Delta snapshot and all 13 reference tables. The new 108,000-row load is verified in Eventhouse, not yet independently reconciled in OneLake. The dashed analytics branch is a prospective consumer integration, not a completed Power BI report or Databricks job."</a:t>
            </a:r>
          </a:p>
          <a:p>
            <a:endParaRPr lang="en-US"/>
          </a:p>
          <a:p>
            <a:r>
              <a:rPr lang="en-US"/>
              <a:t>ARCHITECTURE BOUNDARIES</a:t>
            </a:r>
          </a:p>
          <a:p>
            <a:r>
              <a:rPr lang="en-US"/>
              <a:t>The direct path uses demo-volume inline KQL ingestion with Entra authentication. It is not production streaming ingestion. Kafka is the intended production-like source; no external Kafka connection/topic has been qualified. Both manually configured Eventstream endpoints returned an explicit IP denial, including verified-TLS AMQP tests. Do not claim Eventstream delivery or a measured end-to-end latency SLA.</a:t>
            </a:r>
          </a:p>
          <a:p>
            <a:endParaRPr lang="en-US"/>
          </a:p>
          <a:p>
            <a:r>
              <a:rPr lang="en-US"/>
              <a:t>Activator is a stopped source/object scaffold with no rule, recipient or action. The dashed line represents future configuration and approval, not a delivered notification. No equipment control is in scope.</a:t>
            </a:r>
          </a:p>
          <a:p>
            <a:endParaRPr lang="en-US"/>
          </a:p>
          <a:p>
            <a:r>
              <a:rPr lang="en-US"/>
              <a:t>The top path is conceptual: native graph verification and KQL-agent verification are distinct tests, not proof that every arrow is one unified runtime query.</a:t>
            </a:r>
          </a:p>
        </p:txBody>
      </p:sp>
      <p:sp>
        <p:nvSpPr>
          <p:cNvPr id="4" name="Slide Number Placeholder 3"/>
          <p:cNvSpPr>
            <a:spLocks noGrp="1"/>
          </p:cNvSpPr>
          <p:nvPr>
            <p:ph type="sldNum" sz="quarter" idx="5"/>
          </p:nvPr>
        </p:nvSpPr>
        <p:spPr/>
        <p:txBody>
          <a:bodyPr/>
          <a:lstStyle/>
          <a:p>
            <a:fld id="{18188399-CB83-447A-B5FA-21A9D429C3DE}" type="slidenum">
              <a:rPr lang="en-US" smtClean="0"/>
              <a:t>3</a:t>
            </a:fld>
            <a:endParaRPr lang="en-US"/>
          </a:p>
        </p:txBody>
      </p:sp>
    </p:spTree>
    <p:extLst>
      <p:ext uri="{BB962C8B-B14F-4D97-AF65-F5344CB8AC3E}">
        <p14:creationId xmlns:p14="http://schemas.microsoft.com/office/powerpoint/2010/main" val="2105848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PITCH | 75-90 seconds</a:t>
            </a:r>
          </a:p>
          <a:p>
            <a:r>
              <a:rPr lang="en-US"/>
              <a:t>"This is an additive value proposition, not a claim that existing platforms cannot do these things. ADX already provides strong real-time analytics. Historians remain important operational systems. Databricks and Snowflake already serve significant engineering and enterprise analytical needs. Kafka remains an event backbone. The evaluation is whether Fabric can reduce the effort of connecting the operational signal, asset context, analytical reuse and accessible answers into a coherent workflow."</a:t>
            </a:r>
          </a:p>
          <a:p>
            <a:endParaRPr lang="en-US"/>
          </a:p>
          <a:p>
            <a:r>
              <a:rPr lang="en-US"/>
              <a:t>Frame each benefit as a hypothesis to measure, not a proven saving. We have not measured reduction in integration effort, user task time, operating cost, equipment downtime or business ROI. We have not benchmarked Fabric against ADX, Databricks or Snowflake. This is not evidence of a product performance advantage.</a:t>
            </a:r>
          </a:p>
          <a:p>
            <a:endParaRPr lang="en-US"/>
          </a:p>
          <a:p>
            <a:r>
              <a:rPr lang="en-US"/>
              <a:t>The current-stack list comes from the supplied discovery brief; it is not an audited inventory of every ExxonMobil deployment. Validate ownership and integration boundaries with the customer.</a:t>
            </a:r>
          </a:p>
          <a:p>
            <a:endParaRPr lang="en-US"/>
          </a:p>
          <a:p>
            <a:r>
              <a:rPr lang="en-US"/>
              <a:t>OneLake is not a promise of universal zero-copy access, automatic permission inheritance or a tested downstream integration. The supported route and identity controls must be qualified per consumer. AI prompts do not replace authorization.</a:t>
            </a:r>
          </a:p>
          <a:p>
            <a:endParaRPr lang="en-US"/>
          </a:p>
          <a:p>
            <a:r>
              <a:rPr lang="en-US"/>
              <a:t>ASK</a:t>
            </a:r>
          </a:p>
          <a:p>
            <a:r>
              <a:rPr lang="en-US"/>
              <a:t>"Which workflow currently costs the most effort: finding the right asset, assembling data across tools, or explaining the result to an operations user?"</a:t>
            </a:r>
          </a:p>
        </p:txBody>
      </p:sp>
      <p:sp>
        <p:nvSpPr>
          <p:cNvPr id="4" name="Slide Number Placeholder 3"/>
          <p:cNvSpPr>
            <a:spLocks noGrp="1"/>
          </p:cNvSpPr>
          <p:nvPr>
            <p:ph type="sldNum" sz="quarter" idx="5"/>
          </p:nvPr>
        </p:nvSpPr>
        <p:spPr/>
        <p:txBody>
          <a:bodyPr/>
          <a:lstStyle/>
          <a:p>
            <a:fld id="{18188399-CB83-447A-B5FA-21A9D429C3DE}" type="slidenum">
              <a:rPr lang="en-US" smtClean="0"/>
              <a:t>4</a:t>
            </a:fld>
            <a:endParaRPr lang="en-US"/>
          </a:p>
        </p:txBody>
      </p:sp>
    </p:spTree>
    <p:extLst>
      <p:ext uri="{BB962C8B-B14F-4D97-AF65-F5344CB8AC3E}">
        <p14:creationId xmlns:p14="http://schemas.microsoft.com/office/powerpoint/2010/main" val="695534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PITCH | 60 seconds</a:t>
            </a:r>
          </a:p>
          <a:p>
            <a:r>
              <a:rPr lang="en-US"/>
              <a:t>"We have concrete evidence, but we are deliberately not overstating it. The synthetic direct-ingestion run lasted 10,800.034 seconds and added 108,000 raw rows and 108,000 normalized rows. Independent KQL checks found 108,000 distinct fingerprints and zero parse errors for that run. Five operational agent cases passed in their evaluated windows. Native asset graph traversal and historical OneLake reads are separately verified."</a:t>
            </a:r>
          </a:p>
          <a:p>
            <a:endParaRPr lang="en-US"/>
          </a:p>
          <a:p>
            <a:r>
              <a:rPr lang="en-US"/>
              <a:t>"The decision is whether to proceed with one focused operational workflow and explicit acceptance criteria. The next validation should resolve approved live connector ingress, graph-agent result formatting, identity enforcement and presenter UX, then qualify approved notification behavior, latency, cost and scale."</a:t>
            </a:r>
          </a:p>
          <a:p>
            <a:endParaRPr lang="en-US"/>
          </a:p>
          <a:p>
            <a:r>
              <a:rPr lang="en-US"/>
              <a:t>CAUTIONS</a:t>
            </a:r>
          </a:p>
          <a:p>
            <a:r>
              <a:rPr lang="en-US"/>
              <a:t>The run completed October 21, 2026 at 12:02:42 UTC / 05:02:42 PDT; no continuous load is running. Existing readings should now be shown as historical or stale. Historical count and stale-case evaluations predate the volume load; do not expect the same current-time result after new data.</a:t>
            </a:r>
          </a:p>
          <a:p>
            <a:endParaRPr lang="en-US"/>
          </a:p>
          <a:p>
            <a:r>
              <a:rPr lang="en-US"/>
              <a:t>The 10 events/second synthetic run is not an enterprise-scale benchmark, a production ingestion recommendation or an SLA. No notification was sent, no equipment action occurred, and no production customer data was used. Dashboard definitions are deployed; their browser rendering and Copilot UI remain unvalidated.</a:t>
            </a:r>
          </a:p>
          <a:p>
            <a:endParaRPr lang="en-US"/>
          </a:p>
          <a:p>
            <a:r>
              <a:rPr lang="en-US"/>
              <a:t>INTERNAL EVIDENCE / PRESENTER REFERENCE</a:t>
            </a:r>
          </a:p>
          <a:p>
            <a:r>
              <a:rPr lang="en-US"/>
              <a:t>Repository: docs/deployment-status.md and docs/coexistence.md.</a:t>
            </a:r>
          </a:p>
          <a:p>
            <a:r>
              <a:rPr lang="en-US"/>
              <a:t>Run proof: local-only/direct-load-final-verification-f51c7992e2a240d0b520c1fdc2b5ac39.json.</a:t>
            </a:r>
          </a:p>
          <a:p>
            <a:r>
              <a:rPr lang="en-US"/>
              <a:t>Acceptance: local-only/acceptance.json. Five operational cases are distinct from the unresolved GraphPath case.</a:t>
            </a:r>
          </a:p>
          <a:p>
            <a:endParaRPr lang="en-US"/>
          </a:p>
          <a:p>
            <a:r>
              <a:rPr lang="en-US"/>
              <a:t>PUBLIC PRODUCT REFERENCES</a:t>
            </a:r>
          </a:p>
          <a:p>
            <a:r>
              <a:rPr lang="en-US"/>
              <a:t>Eventhouse OneLake availability: https://learn.microsoft.com/en-us/fabric/real-time-intelligence/event-house-onelake-availability</a:t>
            </a:r>
          </a:p>
          <a:p>
            <a:r>
              <a:rPr lang="en-US"/>
              <a:t>Native GQL API: https://learn.microsoft.com/en-us/fabric/graph/gql-query-api</a:t>
            </a:r>
          </a:p>
          <a:p>
            <a:r>
              <a:rPr lang="en-US"/>
              <a:t>Inline ingestion scope: https://learn.microsoft.com/en-us/kusto/management/data-ingestion/ingest-inline?view=microsoft-fabric</a:t>
            </a:r>
          </a:p>
          <a:p>
            <a:r>
              <a:rPr lang="en-US"/>
              <a:t>These references describe features; they do not certify this deployment.</a:t>
            </a:r>
          </a:p>
        </p:txBody>
      </p:sp>
      <p:sp>
        <p:nvSpPr>
          <p:cNvPr id="4" name="Slide Number Placeholder 3"/>
          <p:cNvSpPr>
            <a:spLocks noGrp="1"/>
          </p:cNvSpPr>
          <p:nvPr>
            <p:ph type="sldNum" sz="quarter" idx="5"/>
          </p:nvPr>
        </p:nvSpPr>
        <p:spPr/>
        <p:txBody>
          <a:bodyPr/>
          <a:lstStyle/>
          <a:p>
            <a:fld id="{18188399-CB83-447A-B5FA-21A9D429C3DE}" type="slidenum">
              <a:rPr lang="en-US" smtClean="0"/>
              <a:t>5</a:t>
            </a:fld>
            <a:endParaRPr lang="en-US"/>
          </a:p>
        </p:txBody>
      </p:sp>
    </p:spTree>
    <p:extLst>
      <p:ext uri="{BB962C8B-B14F-4D97-AF65-F5344CB8AC3E}">
        <p14:creationId xmlns:p14="http://schemas.microsoft.com/office/powerpoint/2010/main" val="2457005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8694-7329-22C0-ED7E-1EB591A5E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30C795-C9BA-B8AC-E880-EF5B65A13E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63D1BC-8C1C-D211-03AF-89DC49CF15A3}"/>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5" name="Footer Placeholder 4">
            <a:extLst>
              <a:ext uri="{FF2B5EF4-FFF2-40B4-BE49-F238E27FC236}">
                <a16:creationId xmlns:a16="http://schemas.microsoft.com/office/drawing/2014/main" id="{ED45D960-AD7E-4DFF-1487-5C023FE77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4ED36-7D4E-2631-680C-916C73928EA3}"/>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2205173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4AD5-C88A-7BD7-717B-4A6F3AF505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CC1F29-55D3-C237-4A76-5E9916B1F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12F76-0A5C-5091-32AA-2D52E6B54E4F}"/>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5" name="Footer Placeholder 4">
            <a:extLst>
              <a:ext uri="{FF2B5EF4-FFF2-40B4-BE49-F238E27FC236}">
                <a16:creationId xmlns:a16="http://schemas.microsoft.com/office/drawing/2014/main" id="{06CFF9E1-03ED-585C-08D2-6682A1C4B0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9B127-4680-1D52-8274-651518867116}"/>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313413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10F8-C8EF-ECB5-F360-D46D8647E7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6D1A77-5123-9B8C-A5F8-819EC31C38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6774DB-0FD2-F6A9-E091-27321806D650}"/>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5" name="Footer Placeholder 4">
            <a:extLst>
              <a:ext uri="{FF2B5EF4-FFF2-40B4-BE49-F238E27FC236}">
                <a16:creationId xmlns:a16="http://schemas.microsoft.com/office/drawing/2014/main" id="{87130F58-63FD-D76D-6FBB-52A89A270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CC253B-A12D-CE20-A68C-7AD7D81A1BBF}"/>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26055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21140-B6EC-FB1A-95A2-0AFB6962EB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613614-3512-8080-EC4E-64D360B984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878401-A757-A450-4862-84553C89B0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7AE734-6DFF-0D3A-73C0-760357E3083A}"/>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6" name="Footer Placeholder 5">
            <a:extLst>
              <a:ext uri="{FF2B5EF4-FFF2-40B4-BE49-F238E27FC236}">
                <a16:creationId xmlns:a16="http://schemas.microsoft.com/office/drawing/2014/main" id="{506EF95D-30F0-0E24-03B1-C5E575530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2F733C-40AA-1709-A515-543C9289C118}"/>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666960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2037-EDE4-B89B-2C7A-EB190675CE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E8503F-5B6B-F014-BE24-B66BD95279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964905-3A62-C998-5450-B37967F15F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ACE956-8DA5-04CD-0017-0DED47A4CC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1A8CDA-39AE-BDDB-663A-22229F66C5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D3DB95-748C-409D-ACFD-FA3ED179B3CC}"/>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8" name="Footer Placeholder 7">
            <a:extLst>
              <a:ext uri="{FF2B5EF4-FFF2-40B4-BE49-F238E27FC236}">
                <a16:creationId xmlns:a16="http://schemas.microsoft.com/office/drawing/2014/main" id="{B241CA23-047F-A01A-4EA8-4DCF1EE86E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DD1507-8521-46DF-B889-AFC98EF37D25}"/>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2655876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1812-5980-FE18-410C-F1965D2A45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8145A4-FB9D-01F5-B898-C22B7D86031D}"/>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4" name="Footer Placeholder 3">
            <a:extLst>
              <a:ext uri="{FF2B5EF4-FFF2-40B4-BE49-F238E27FC236}">
                <a16:creationId xmlns:a16="http://schemas.microsoft.com/office/drawing/2014/main" id="{D15228FA-E540-54FB-DD63-AF9A2B5474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BD03DF-A2BE-16BF-5EE3-C011BDB2C6A2}"/>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2713260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DF7243-3C5E-0E75-9666-EF65F1AE0F06}"/>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3" name="Footer Placeholder 2">
            <a:extLst>
              <a:ext uri="{FF2B5EF4-FFF2-40B4-BE49-F238E27FC236}">
                <a16:creationId xmlns:a16="http://schemas.microsoft.com/office/drawing/2014/main" id="{AAFCB3E5-4165-4C3A-42DB-E9F889B059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BA72B-543A-7AAD-12E8-77952FDE74C7}"/>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2280027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8218-E48A-38A4-A00C-F4F821292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938751-7AE6-FC12-1C12-C13DD07B4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801585-5BEE-7091-CEE1-C5FB5EA04E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D3B747-9BA0-1029-48F8-7205401BCE7F}"/>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6" name="Footer Placeholder 5">
            <a:extLst>
              <a:ext uri="{FF2B5EF4-FFF2-40B4-BE49-F238E27FC236}">
                <a16:creationId xmlns:a16="http://schemas.microsoft.com/office/drawing/2014/main" id="{EA230D19-2341-284C-F770-E7C83D59E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2392F2-063D-DF78-A848-6DB8081F30B8}"/>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3797019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748C-AA1F-8AB1-D816-6F67AF40E0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57789D-5456-5E1F-1504-D7E03AA5516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1A93A9-0EFD-333A-45F5-E47C70BC7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286CE3-283B-A3EA-1B51-A99B0E2434DF}"/>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6" name="Footer Placeholder 5">
            <a:extLst>
              <a:ext uri="{FF2B5EF4-FFF2-40B4-BE49-F238E27FC236}">
                <a16:creationId xmlns:a16="http://schemas.microsoft.com/office/drawing/2014/main" id="{77941522-6F81-EC04-3E37-2B6D70F09C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4312B1-109D-29B0-57C7-0CEE2B8E7660}"/>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1540816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4496-5554-4359-18E4-8137924B6D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AE79E9-DEE0-5102-A95C-5FDE9FCF2B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7DA06-6FE3-CAB3-B77D-2381132449AC}"/>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5" name="Footer Placeholder 4">
            <a:extLst>
              <a:ext uri="{FF2B5EF4-FFF2-40B4-BE49-F238E27FC236}">
                <a16:creationId xmlns:a16="http://schemas.microsoft.com/office/drawing/2014/main" id="{D0871698-1D34-C3C9-0DEC-5B71D79D1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D93665-4D5F-36AC-1C59-B41900598179}"/>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20485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16CBF2-1757-3349-7687-7C084B459D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D88A52-D6E1-79AE-93E9-D931B1F2BF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CA2AAD-C849-4AC0-529B-3B310597A38D}"/>
              </a:ext>
            </a:extLst>
          </p:cNvPr>
          <p:cNvSpPr>
            <a:spLocks noGrp="1"/>
          </p:cNvSpPr>
          <p:nvPr>
            <p:ph type="dt" sz="half" idx="10"/>
          </p:nvPr>
        </p:nvSpPr>
        <p:spPr/>
        <p:txBody>
          <a:bodyPr/>
          <a:lstStyle/>
          <a:p>
            <a:fld id="{904BA2A2-BA17-4BB1-9F21-860E129F9653}" type="datetimeFigureOut">
              <a:rPr lang="en-US" smtClean="0"/>
              <a:t>10/21/2026</a:t>
            </a:fld>
            <a:endParaRPr lang="en-US"/>
          </a:p>
        </p:txBody>
      </p:sp>
      <p:sp>
        <p:nvSpPr>
          <p:cNvPr id="5" name="Footer Placeholder 4">
            <a:extLst>
              <a:ext uri="{FF2B5EF4-FFF2-40B4-BE49-F238E27FC236}">
                <a16:creationId xmlns:a16="http://schemas.microsoft.com/office/drawing/2014/main" id="{9E3E28EB-E86F-753E-5C63-8A0845B8B5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64B26-10F7-CCE4-36B8-37931DAD606B}"/>
              </a:ext>
            </a:extLst>
          </p:cNvPr>
          <p:cNvSpPr>
            <a:spLocks noGrp="1"/>
          </p:cNvSpPr>
          <p:nvPr>
            <p:ph type="sldNum" sz="quarter" idx="12"/>
          </p:nvPr>
        </p:nvSpPr>
        <p:spPr/>
        <p:txBody>
          <a:bodyPr/>
          <a:lstStyle/>
          <a:p>
            <a:fld id="{91DD0117-C2BE-4E76-A08D-02E13179748E}" type="slidenum">
              <a:rPr lang="en-US" smtClean="0"/>
              <a:t>‹#›</a:t>
            </a:fld>
            <a:endParaRPr lang="en-US"/>
          </a:p>
        </p:txBody>
      </p:sp>
    </p:spTree>
    <p:extLst>
      <p:ext uri="{BB962C8B-B14F-4D97-AF65-F5344CB8AC3E}">
        <p14:creationId xmlns:p14="http://schemas.microsoft.com/office/powerpoint/2010/main" val="225523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46EF5D-4EE7-167F-9A53-516BF8A21B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11DA86-1597-9D5C-B8C4-3EB61AD393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AC0A4F-5667-9A73-25E9-A712501CA5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4BA2A2-BA17-4BB1-9F21-860E129F9653}" type="datetimeFigureOut">
              <a:rPr lang="en-US" smtClean="0"/>
              <a:t>10/21/2026</a:t>
            </a:fld>
            <a:endParaRPr lang="en-US"/>
          </a:p>
        </p:txBody>
      </p:sp>
      <p:sp>
        <p:nvSpPr>
          <p:cNvPr id="5" name="Footer Placeholder 4">
            <a:extLst>
              <a:ext uri="{FF2B5EF4-FFF2-40B4-BE49-F238E27FC236}">
                <a16:creationId xmlns:a16="http://schemas.microsoft.com/office/drawing/2014/main" id="{818E10B3-1E96-4CEA-F4A6-D845CB6C2C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2B36AE-861C-3269-A8B9-D4F4C61FC4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DD0117-C2BE-4E76-A08D-02E13179748E}" type="slidenum">
              <a:rPr lang="en-US" smtClean="0"/>
              <a:t>‹#›</a:t>
            </a:fld>
            <a:endParaRPr lang="en-US"/>
          </a:p>
        </p:txBody>
      </p:sp>
    </p:spTree>
    <p:extLst>
      <p:ext uri="{BB962C8B-B14F-4D97-AF65-F5344CB8AC3E}">
        <p14:creationId xmlns:p14="http://schemas.microsoft.com/office/powerpoint/2010/main" val="3133112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9E5722-7542-3844-781F-97F6BA677EEB}"/>
              </a:ext>
            </a:extLst>
          </p:cNvPr>
          <p:cNvSpPr/>
          <p:nvPr/>
        </p:nvSpPr>
        <p:spPr>
          <a:xfrm>
            <a:off x="457200" y="381000"/>
            <a:ext cx="304800" cy="38100"/>
          </a:xfrm>
          <a:prstGeom prst="rect">
            <a:avLst/>
          </a:prstGeom>
          <a:solidFill>
            <a:srgbClr val="54D8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92BF272-2CAC-5FC6-BDC7-F6A2027CC3AB}"/>
              </a:ext>
            </a:extLst>
          </p:cNvPr>
          <p:cNvSpPr txBox="1"/>
          <p:nvPr/>
        </p:nvSpPr>
        <p:spPr>
          <a:xfrm>
            <a:off x="889000" y="292100"/>
            <a:ext cx="8890000" cy="241300"/>
          </a:xfrm>
          <a:prstGeom prst="rect">
            <a:avLst/>
          </a:prstGeom>
          <a:noFill/>
        </p:spPr>
        <p:txBody>
          <a:bodyPr vert="horz" wrap="square" lIns="0" tIns="0" rIns="0" bIns="0" rtlCol="0">
            <a:noAutofit/>
          </a:bodyPr>
          <a:lstStyle/>
          <a:p>
            <a:r>
              <a:rPr lang="en-US" sz="1000" b="1">
                <a:solidFill>
                  <a:srgbClr val="54D8D0"/>
                </a:solidFill>
                <a:latin typeface="Aptos" panose="020B0004020202020204" pitchFamily="34" charset="0"/>
              </a:rPr>
              <a:t>THE INTENT</a:t>
            </a:r>
          </a:p>
        </p:txBody>
      </p:sp>
      <p:sp>
        <p:nvSpPr>
          <p:cNvPr id="4" name="TextBox 3">
            <a:extLst>
              <a:ext uri="{FF2B5EF4-FFF2-40B4-BE49-F238E27FC236}">
                <a16:creationId xmlns:a16="http://schemas.microsoft.com/office/drawing/2014/main" id="{A9436BE2-A917-259F-12F5-979D39262A58}"/>
              </a:ext>
            </a:extLst>
          </p:cNvPr>
          <p:cNvSpPr txBox="1"/>
          <p:nvPr/>
        </p:nvSpPr>
        <p:spPr>
          <a:xfrm>
            <a:off x="457200" y="825499"/>
            <a:ext cx="11303000" cy="1117600"/>
          </a:xfrm>
          <a:prstGeom prst="rect">
            <a:avLst/>
          </a:prstGeom>
          <a:noFill/>
        </p:spPr>
        <p:txBody>
          <a:bodyPr vert="horz" wrap="square" lIns="0" tIns="0" rIns="0" bIns="0" rtlCol="0">
            <a:noAutofit/>
          </a:bodyPr>
          <a:lstStyle/>
          <a:p>
            <a:r>
              <a:rPr lang="en-US" sz="3100" b="1">
                <a:solidFill>
                  <a:srgbClr val="F2F6FC"/>
                </a:solidFill>
                <a:latin typeface="Aptos" panose="020B0004020202020204" pitchFamily="34" charset="0"/>
              </a:rPr>
              <a:t>From operational signals
to shared operational understanding</a:t>
            </a:r>
          </a:p>
        </p:txBody>
      </p:sp>
      <p:sp>
        <p:nvSpPr>
          <p:cNvPr id="5" name="TextBox 4">
            <a:extLst>
              <a:ext uri="{FF2B5EF4-FFF2-40B4-BE49-F238E27FC236}">
                <a16:creationId xmlns:a16="http://schemas.microsoft.com/office/drawing/2014/main" id="{7E546FAB-EBF5-92BD-16F2-9916FF9BF20C}"/>
              </a:ext>
            </a:extLst>
          </p:cNvPr>
          <p:cNvSpPr txBox="1"/>
          <p:nvPr/>
        </p:nvSpPr>
        <p:spPr>
          <a:xfrm>
            <a:off x="457200" y="1968499"/>
            <a:ext cx="11239500" cy="571500"/>
          </a:xfrm>
          <a:prstGeom prst="rect">
            <a:avLst/>
          </a:prstGeom>
          <a:noFill/>
        </p:spPr>
        <p:txBody>
          <a:bodyPr vert="horz" wrap="square" lIns="0" tIns="0" rIns="0" bIns="0" rtlCol="0">
            <a:noAutofit/>
          </a:bodyPr>
          <a:lstStyle/>
          <a:p>
            <a:r>
              <a:rPr lang="en-US" sz="1500">
                <a:solidFill>
                  <a:srgbClr val="A5B4CA"/>
                </a:solidFill>
                <a:latin typeface="Aptos" panose="020B0004020202020204" pitchFamily="34" charset="0"/>
              </a:rPr>
              <a:t>A synthetic oil &amp; gas demo for ExxonMobil | Microsoft Fabric Real-Time Intelligence</a:t>
            </a:r>
          </a:p>
        </p:txBody>
      </p:sp>
      <p:sp>
        <p:nvSpPr>
          <p:cNvPr id="6" name="Rectangle 5">
            <a:extLst>
              <a:ext uri="{FF2B5EF4-FFF2-40B4-BE49-F238E27FC236}">
                <a16:creationId xmlns:a16="http://schemas.microsoft.com/office/drawing/2014/main" id="{494D5F65-B3CC-C0E6-9E85-1710E4542E1A}"/>
              </a:ext>
            </a:extLst>
          </p:cNvPr>
          <p:cNvSpPr/>
          <p:nvPr/>
        </p:nvSpPr>
        <p:spPr>
          <a:xfrm>
            <a:off x="457200" y="6400800"/>
            <a:ext cx="11277600" cy="12700"/>
          </a:xfrm>
          <a:prstGeom prst="rect">
            <a:avLst/>
          </a:prstGeom>
          <a:solidFill>
            <a:srgbClr val="26374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5310684-22BD-C590-B7D9-7101563AD724}"/>
              </a:ext>
            </a:extLst>
          </p:cNvPr>
          <p:cNvSpPr txBox="1"/>
          <p:nvPr/>
        </p:nvSpPr>
        <p:spPr>
          <a:xfrm>
            <a:off x="457200" y="6553200"/>
            <a:ext cx="9398000" cy="165100"/>
          </a:xfrm>
          <a:prstGeom prst="rect">
            <a:avLst/>
          </a:prstGeom>
          <a:noFill/>
        </p:spPr>
        <p:txBody>
          <a:bodyPr vert="horz" wrap="square" lIns="0" tIns="0" rIns="0" bIns="0" rtlCol="0">
            <a:noAutofit/>
          </a:bodyPr>
          <a:lstStyle/>
          <a:p>
            <a:r>
              <a:rPr lang="en-US" sz="800">
                <a:solidFill>
                  <a:srgbClr val="A5B4CA"/>
                </a:solidFill>
                <a:latin typeface="Aptos" panose="020B0004020202020204" pitchFamily="34" charset="0"/>
              </a:rPr>
              <a:t>EXXONMOBIL  /  FABRIC REAL-TIME INTELLIGENCE DEMO</a:t>
            </a:r>
          </a:p>
        </p:txBody>
      </p:sp>
      <p:sp>
        <p:nvSpPr>
          <p:cNvPr id="8" name="TextBox 7">
            <a:extLst>
              <a:ext uri="{FF2B5EF4-FFF2-40B4-BE49-F238E27FC236}">
                <a16:creationId xmlns:a16="http://schemas.microsoft.com/office/drawing/2014/main" id="{AAD831AA-708D-76DD-030A-8A12EA228043}"/>
              </a:ext>
            </a:extLst>
          </p:cNvPr>
          <p:cNvSpPr txBox="1"/>
          <p:nvPr/>
        </p:nvSpPr>
        <p:spPr>
          <a:xfrm>
            <a:off x="11303000" y="6515100"/>
            <a:ext cx="431800" cy="215900"/>
          </a:xfrm>
          <a:prstGeom prst="rect">
            <a:avLst/>
          </a:prstGeom>
          <a:noFill/>
        </p:spPr>
        <p:txBody>
          <a:bodyPr vert="horz" wrap="square" lIns="0" tIns="0" rIns="0" bIns="0" rtlCol="0">
            <a:noAutofit/>
          </a:bodyPr>
          <a:lstStyle/>
          <a:p>
            <a:r>
              <a:rPr lang="en-US" sz="1000">
                <a:solidFill>
                  <a:srgbClr val="A5B4CA"/>
                </a:solidFill>
                <a:latin typeface="Aptos" panose="020B0004020202020204" pitchFamily="34" charset="0"/>
              </a:rPr>
              <a:t>01</a:t>
            </a:r>
          </a:p>
        </p:txBody>
      </p:sp>
      <p:sp>
        <p:nvSpPr>
          <p:cNvPr id="9" name="TextBox 8">
            <a:extLst>
              <a:ext uri="{FF2B5EF4-FFF2-40B4-BE49-F238E27FC236}">
                <a16:creationId xmlns:a16="http://schemas.microsoft.com/office/drawing/2014/main" id="{8CD721A4-CC31-CF60-1B21-C5BB1332C129}"/>
              </a:ext>
            </a:extLst>
          </p:cNvPr>
          <p:cNvSpPr txBox="1"/>
          <p:nvPr/>
        </p:nvSpPr>
        <p:spPr>
          <a:xfrm>
            <a:off x="482600" y="2819399"/>
            <a:ext cx="10985500" cy="444500"/>
          </a:xfrm>
          <a:prstGeom prst="rect">
            <a:avLst/>
          </a:prstGeom>
          <a:noFill/>
        </p:spPr>
        <p:txBody>
          <a:bodyPr vert="horz" wrap="square" lIns="0" tIns="0" rIns="0" bIns="0" rtlCol="0">
            <a:noAutofit/>
          </a:bodyPr>
          <a:lstStyle/>
          <a:p>
            <a:r>
              <a:rPr lang="en-US" sz="2200" b="1">
                <a:solidFill>
                  <a:srgbClr val="54D8D0"/>
                </a:solidFill>
                <a:latin typeface="Aptos" panose="020B0004020202020204" pitchFamily="34" charset="0"/>
              </a:rPr>
              <a:t>Keep the platforms that work. Connect the operational story.</a:t>
            </a:r>
          </a:p>
        </p:txBody>
      </p:sp>
      <p:sp>
        <p:nvSpPr>
          <p:cNvPr id="10" name="Rectangle: Rounded Corners 9">
            <a:extLst>
              <a:ext uri="{FF2B5EF4-FFF2-40B4-BE49-F238E27FC236}">
                <a16:creationId xmlns:a16="http://schemas.microsoft.com/office/drawing/2014/main" id="{AEE099CB-BD49-6718-FCFA-6050B1765B21}"/>
              </a:ext>
            </a:extLst>
          </p:cNvPr>
          <p:cNvSpPr/>
          <p:nvPr/>
        </p:nvSpPr>
        <p:spPr>
          <a:xfrm>
            <a:off x="457200" y="3721100"/>
            <a:ext cx="3581400" cy="18542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81DA1FA-8C7E-EDB0-E8E7-F934335BE7D9}"/>
              </a:ext>
            </a:extLst>
          </p:cNvPr>
          <p:cNvSpPr txBox="1"/>
          <p:nvPr/>
        </p:nvSpPr>
        <p:spPr>
          <a:xfrm>
            <a:off x="685800" y="3924299"/>
            <a:ext cx="571500" cy="368300"/>
          </a:xfrm>
          <a:prstGeom prst="rect">
            <a:avLst/>
          </a:prstGeom>
          <a:noFill/>
        </p:spPr>
        <p:txBody>
          <a:bodyPr vert="horz" wrap="square" lIns="0" tIns="0" rIns="0" bIns="0" rtlCol="0">
            <a:noAutofit/>
          </a:bodyPr>
          <a:lstStyle/>
          <a:p>
            <a:r>
              <a:rPr lang="en-US" sz="2200" b="1">
                <a:solidFill>
                  <a:srgbClr val="54D8D0"/>
                </a:solidFill>
                <a:latin typeface="Aptos" panose="020B0004020202020204" pitchFamily="34" charset="0"/>
              </a:rPr>
              <a:t>01</a:t>
            </a:r>
          </a:p>
        </p:txBody>
      </p:sp>
      <p:sp>
        <p:nvSpPr>
          <p:cNvPr id="12" name="TextBox 11">
            <a:extLst>
              <a:ext uri="{FF2B5EF4-FFF2-40B4-BE49-F238E27FC236}">
                <a16:creationId xmlns:a16="http://schemas.microsoft.com/office/drawing/2014/main" id="{26588EC9-F24A-C910-2359-509E310FA439}"/>
              </a:ext>
            </a:extLst>
          </p:cNvPr>
          <p:cNvSpPr txBox="1"/>
          <p:nvPr/>
        </p:nvSpPr>
        <p:spPr>
          <a:xfrm>
            <a:off x="685800" y="4444999"/>
            <a:ext cx="3111500" cy="279400"/>
          </a:xfrm>
          <a:prstGeom prst="rect">
            <a:avLst/>
          </a:prstGeom>
          <a:noFill/>
        </p:spPr>
        <p:txBody>
          <a:bodyPr vert="horz" wrap="square" lIns="0" tIns="0" rIns="0" bIns="0" rtlCol="0">
            <a:noAutofit/>
          </a:bodyPr>
          <a:lstStyle/>
          <a:p>
            <a:r>
              <a:rPr lang="en-US" sz="1200" b="1">
                <a:solidFill>
                  <a:srgbClr val="A5B4CA"/>
                </a:solidFill>
                <a:latin typeface="Aptos" panose="020B0004020202020204" pitchFamily="34" charset="0"/>
              </a:rPr>
              <a:t>OBSERVE</a:t>
            </a:r>
          </a:p>
        </p:txBody>
      </p:sp>
      <p:sp>
        <p:nvSpPr>
          <p:cNvPr id="13" name="TextBox 12">
            <a:extLst>
              <a:ext uri="{FF2B5EF4-FFF2-40B4-BE49-F238E27FC236}">
                <a16:creationId xmlns:a16="http://schemas.microsoft.com/office/drawing/2014/main" id="{084E2A0E-BECA-8933-5B35-48A167D7C456}"/>
              </a:ext>
            </a:extLst>
          </p:cNvPr>
          <p:cNvSpPr txBox="1"/>
          <p:nvPr/>
        </p:nvSpPr>
        <p:spPr>
          <a:xfrm>
            <a:off x="685800" y="4851399"/>
            <a:ext cx="3111500" cy="584200"/>
          </a:xfrm>
          <a:prstGeom prst="rect">
            <a:avLst/>
          </a:prstGeom>
          <a:noFill/>
        </p:spPr>
        <p:txBody>
          <a:bodyPr vert="horz" wrap="square" lIns="0" tIns="0" rIns="0" bIns="0" rtlCol="0">
            <a:noAutofit/>
          </a:bodyPr>
          <a:lstStyle/>
          <a:p>
            <a:r>
              <a:rPr lang="en-US">
                <a:solidFill>
                  <a:srgbClr val="F2F6FC"/>
                </a:solidFill>
                <a:latin typeface="Aptos" panose="020B0004020202020204" pitchFamily="34" charset="0"/>
              </a:rPr>
              <a:t>What changed in compressor telemetry?</a:t>
            </a:r>
          </a:p>
        </p:txBody>
      </p:sp>
      <p:sp>
        <p:nvSpPr>
          <p:cNvPr id="14" name="Rectangle: Rounded Corners 13">
            <a:extLst>
              <a:ext uri="{FF2B5EF4-FFF2-40B4-BE49-F238E27FC236}">
                <a16:creationId xmlns:a16="http://schemas.microsoft.com/office/drawing/2014/main" id="{F2772359-195F-3E97-4728-46A41F83F471}"/>
              </a:ext>
            </a:extLst>
          </p:cNvPr>
          <p:cNvSpPr/>
          <p:nvPr/>
        </p:nvSpPr>
        <p:spPr>
          <a:xfrm>
            <a:off x="4267200" y="3721100"/>
            <a:ext cx="3581400" cy="18542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614078B-A59B-8C4B-4389-1284F2E447F6}"/>
              </a:ext>
            </a:extLst>
          </p:cNvPr>
          <p:cNvSpPr txBox="1"/>
          <p:nvPr/>
        </p:nvSpPr>
        <p:spPr>
          <a:xfrm>
            <a:off x="4495800" y="3924299"/>
            <a:ext cx="571500" cy="368300"/>
          </a:xfrm>
          <a:prstGeom prst="rect">
            <a:avLst/>
          </a:prstGeom>
          <a:noFill/>
        </p:spPr>
        <p:txBody>
          <a:bodyPr vert="horz" wrap="square" lIns="0" tIns="0" rIns="0" bIns="0" rtlCol="0">
            <a:noAutofit/>
          </a:bodyPr>
          <a:lstStyle/>
          <a:p>
            <a:r>
              <a:rPr lang="en-US" sz="2200" b="1">
                <a:solidFill>
                  <a:srgbClr val="54D8D0"/>
                </a:solidFill>
                <a:latin typeface="Aptos" panose="020B0004020202020204" pitchFamily="34" charset="0"/>
              </a:rPr>
              <a:t>02</a:t>
            </a:r>
          </a:p>
        </p:txBody>
      </p:sp>
      <p:sp>
        <p:nvSpPr>
          <p:cNvPr id="16" name="TextBox 15">
            <a:extLst>
              <a:ext uri="{FF2B5EF4-FFF2-40B4-BE49-F238E27FC236}">
                <a16:creationId xmlns:a16="http://schemas.microsoft.com/office/drawing/2014/main" id="{2A139451-0623-3D20-0E41-7B6A00B204EB}"/>
              </a:ext>
            </a:extLst>
          </p:cNvPr>
          <p:cNvSpPr txBox="1"/>
          <p:nvPr/>
        </p:nvSpPr>
        <p:spPr>
          <a:xfrm>
            <a:off x="4495800" y="4444999"/>
            <a:ext cx="3111500" cy="279400"/>
          </a:xfrm>
          <a:prstGeom prst="rect">
            <a:avLst/>
          </a:prstGeom>
          <a:noFill/>
        </p:spPr>
        <p:txBody>
          <a:bodyPr vert="horz" wrap="square" lIns="0" tIns="0" rIns="0" bIns="0" rtlCol="0">
            <a:noAutofit/>
          </a:bodyPr>
          <a:lstStyle/>
          <a:p>
            <a:r>
              <a:rPr lang="en-US" sz="1200" b="1">
                <a:solidFill>
                  <a:srgbClr val="A5B4CA"/>
                </a:solidFill>
                <a:latin typeface="Aptos" panose="020B0004020202020204" pitchFamily="34" charset="0"/>
              </a:rPr>
              <a:t>CONTEXTUALIZE</a:t>
            </a:r>
          </a:p>
        </p:txBody>
      </p:sp>
      <p:sp>
        <p:nvSpPr>
          <p:cNvPr id="17" name="TextBox 16">
            <a:extLst>
              <a:ext uri="{FF2B5EF4-FFF2-40B4-BE49-F238E27FC236}">
                <a16:creationId xmlns:a16="http://schemas.microsoft.com/office/drawing/2014/main" id="{4555476A-315A-E5C3-B9F5-2BFA35A73A1E}"/>
              </a:ext>
            </a:extLst>
          </p:cNvPr>
          <p:cNvSpPr txBox="1"/>
          <p:nvPr/>
        </p:nvSpPr>
        <p:spPr>
          <a:xfrm>
            <a:off x="4495800" y="4851399"/>
            <a:ext cx="3111500" cy="584200"/>
          </a:xfrm>
          <a:prstGeom prst="rect">
            <a:avLst/>
          </a:prstGeom>
          <a:noFill/>
        </p:spPr>
        <p:txBody>
          <a:bodyPr vert="horz" wrap="square" lIns="0" tIns="0" rIns="0" bIns="0" rtlCol="0">
            <a:noAutofit/>
          </a:bodyPr>
          <a:lstStyle/>
          <a:p>
            <a:r>
              <a:rPr lang="en-US">
                <a:solidFill>
                  <a:srgbClr val="F2F6FC"/>
                </a:solidFill>
                <a:latin typeface="Aptos" panose="020B0004020202020204" pitchFamily="34" charset="0"/>
              </a:rPr>
              <a:t>Which site, asset and measurement?</a:t>
            </a:r>
          </a:p>
        </p:txBody>
      </p:sp>
      <p:sp>
        <p:nvSpPr>
          <p:cNvPr id="18" name="Rectangle: Rounded Corners 17">
            <a:extLst>
              <a:ext uri="{FF2B5EF4-FFF2-40B4-BE49-F238E27FC236}">
                <a16:creationId xmlns:a16="http://schemas.microsoft.com/office/drawing/2014/main" id="{BB0E0D84-5512-E67D-703A-4710EA7D1F95}"/>
              </a:ext>
            </a:extLst>
          </p:cNvPr>
          <p:cNvSpPr/>
          <p:nvPr/>
        </p:nvSpPr>
        <p:spPr>
          <a:xfrm>
            <a:off x="8077200" y="3721100"/>
            <a:ext cx="3581400" cy="18542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9CA398F-1EDC-1530-5306-3F301417B5F1}"/>
              </a:ext>
            </a:extLst>
          </p:cNvPr>
          <p:cNvSpPr txBox="1"/>
          <p:nvPr/>
        </p:nvSpPr>
        <p:spPr>
          <a:xfrm>
            <a:off x="8305800" y="3924299"/>
            <a:ext cx="571500" cy="368300"/>
          </a:xfrm>
          <a:prstGeom prst="rect">
            <a:avLst/>
          </a:prstGeom>
          <a:noFill/>
        </p:spPr>
        <p:txBody>
          <a:bodyPr vert="horz" wrap="square" lIns="0" tIns="0" rIns="0" bIns="0" rtlCol="0">
            <a:noAutofit/>
          </a:bodyPr>
          <a:lstStyle/>
          <a:p>
            <a:r>
              <a:rPr lang="en-US" sz="2200" b="1">
                <a:solidFill>
                  <a:srgbClr val="54D8D0"/>
                </a:solidFill>
                <a:latin typeface="Aptos" panose="020B0004020202020204" pitchFamily="34" charset="0"/>
              </a:rPr>
              <a:t>03</a:t>
            </a:r>
          </a:p>
        </p:txBody>
      </p:sp>
      <p:sp>
        <p:nvSpPr>
          <p:cNvPr id="20" name="TextBox 19">
            <a:extLst>
              <a:ext uri="{FF2B5EF4-FFF2-40B4-BE49-F238E27FC236}">
                <a16:creationId xmlns:a16="http://schemas.microsoft.com/office/drawing/2014/main" id="{DBEC5F7A-4D7F-EA7E-3AAB-F86780B92F86}"/>
              </a:ext>
            </a:extLst>
          </p:cNvPr>
          <p:cNvSpPr txBox="1"/>
          <p:nvPr/>
        </p:nvSpPr>
        <p:spPr>
          <a:xfrm>
            <a:off x="8305800" y="4444999"/>
            <a:ext cx="3111500" cy="279400"/>
          </a:xfrm>
          <a:prstGeom prst="rect">
            <a:avLst/>
          </a:prstGeom>
          <a:noFill/>
        </p:spPr>
        <p:txBody>
          <a:bodyPr vert="horz" wrap="square" lIns="0" tIns="0" rIns="0" bIns="0" rtlCol="0">
            <a:noAutofit/>
          </a:bodyPr>
          <a:lstStyle/>
          <a:p>
            <a:r>
              <a:rPr lang="en-US" sz="1200" b="1">
                <a:solidFill>
                  <a:srgbClr val="A5B4CA"/>
                </a:solidFill>
                <a:latin typeface="Aptos" panose="020B0004020202020204" pitchFamily="34" charset="0"/>
              </a:rPr>
              <a:t>DECIDE</a:t>
            </a:r>
          </a:p>
        </p:txBody>
      </p:sp>
      <p:sp>
        <p:nvSpPr>
          <p:cNvPr id="21" name="TextBox 20">
            <a:extLst>
              <a:ext uri="{FF2B5EF4-FFF2-40B4-BE49-F238E27FC236}">
                <a16:creationId xmlns:a16="http://schemas.microsoft.com/office/drawing/2014/main" id="{711AD543-BD32-C20A-D7BA-98FD59CFFF1A}"/>
              </a:ext>
            </a:extLst>
          </p:cNvPr>
          <p:cNvSpPr txBox="1"/>
          <p:nvPr/>
        </p:nvSpPr>
        <p:spPr>
          <a:xfrm>
            <a:off x="8305800" y="4851399"/>
            <a:ext cx="3111500" cy="584200"/>
          </a:xfrm>
          <a:prstGeom prst="rect">
            <a:avLst/>
          </a:prstGeom>
          <a:noFill/>
        </p:spPr>
        <p:txBody>
          <a:bodyPr vert="horz" wrap="square" lIns="0" tIns="0" rIns="0" bIns="0" rtlCol="0">
            <a:noAutofit/>
          </a:bodyPr>
          <a:lstStyle/>
          <a:p>
            <a:r>
              <a:rPr lang="en-US">
                <a:solidFill>
                  <a:srgbClr val="F2F6FC"/>
                </a:solidFill>
                <a:latin typeface="Aptos" panose="020B0004020202020204" pitchFamily="34" charset="0"/>
              </a:rPr>
              <a:t>What deserves a closer look?</a:t>
            </a:r>
          </a:p>
        </p:txBody>
      </p:sp>
      <p:sp>
        <p:nvSpPr>
          <p:cNvPr id="22" name="TextBox 21">
            <a:extLst>
              <a:ext uri="{FF2B5EF4-FFF2-40B4-BE49-F238E27FC236}">
                <a16:creationId xmlns:a16="http://schemas.microsoft.com/office/drawing/2014/main" id="{62963EE8-7DEB-0DC6-7568-13AAF89A00DD}"/>
              </a:ext>
            </a:extLst>
          </p:cNvPr>
          <p:cNvSpPr txBox="1"/>
          <p:nvPr/>
        </p:nvSpPr>
        <p:spPr>
          <a:xfrm>
            <a:off x="482600" y="5892800"/>
            <a:ext cx="11049000" cy="228600"/>
          </a:xfrm>
          <a:prstGeom prst="rect">
            <a:avLst/>
          </a:prstGeom>
          <a:noFill/>
        </p:spPr>
        <p:txBody>
          <a:bodyPr vert="horz" wrap="square" lIns="0" tIns="0" rIns="0" bIns="0" rtlCol="0">
            <a:noAutofit/>
          </a:bodyPr>
          <a:lstStyle/>
          <a:p>
            <a:r>
              <a:rPr lang="en-US" sz="1100">
                <a:solidFill>
                  <a:srgbClr val="A5B4CA"/>
                </a:solidFill>
                <a:latin typeface="Aptos" panose="020B0004020202020204" pitchFamily="34" charset="0"/>
              </a:rPr>
              <a:t>Synthetic data only. Decision support, not equipment control or automated diagnosis.</a:t>
            </a:r>
          </a:p>
        </p:txBody>
      </p:sp>
    </p:spTree>
    <p:extLst>
      <p:ext uri="{BB962C8B-B14F-4D97-AF65-F5344CB8AC3E}">
        <p14:creationId xmlns:p14="http://schemas.microsoft.com/office/powerpoint/2010/main" val="1464383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EDCD0C-4CC0-E315-EF5A-65B371693680}"/>
              </a:ext>
            </a:extLst>
          </p:cNvPr>
          <p:cNvSpPr/>
          <p:nvPr/>
        </p:nvSpPr>
        <p:spPr>
          <a:xfrm>
            <a:off x="457200" y="381000"/>
            <a:ext cx="304800" cy="38100"/>
          </a:xfrm>
          <a:prstGeom prst="rect">
            <a:avLst/>
          </a:prstGeom>
          <a:solidFill>
            <a:srgbClr val="54D8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751CDD4-ACA7-1A73-CDFE-56446FF945CF}"/>
              </a:ext>
            </a:extLst>
          </p:cNvPr>
          <p:cNvSpPr txBox="1"/>
          <p:nvPr/>
        </p:nvSpPr>
        <p:spPr>
          <a:xfrm>
            <a:off x="889000" y="292100"/>
            <a:ext cx="8890000" cy="241300"/>
          </a:xfrm>
          <a:prstGeom prst="rect">
            <a:avLst/>
          </a:prstGeom>
          <a:noFill/>
        </p:spPr>
        <p:txBody>
          <a:bodyPr vert="horz" wrap="square" lIns="0" tIns="0" rIns="0" bIns="0" rtlCol="0">
            <a:noAutofit/>
          </a:bodyPr>
          <a:lstStyle/>
          <a:p>
            <a:r>
              <a:rPr lang="en-US" sz="1000" b="1">
                <a:solidFill>
                  <a:srgbClr val="54D8D0"/>
                </a:solidFill>
                <a:latin typeface="Aptos" panose="020B0004020202020204" pitchFamily="34" charset="0"/>
              </a:rPr>
              <a:t>THE DEMO STORY</a:t>
            </a:r>
          </a:p>
        </p:txBody>
      </p:sp>
      <p:sp>
        <p:nvSpPr>
          <p:cNvPr id="4" name="TextBox 3">
            <a:extLst>
              <a:ext uri="{FF2B5EF4-FFF2-40B4-BE49-F238E27FC236}">
                <a16:creationId xmlns:a16="http://schemas.microsoft.com/office/drawing/2014/main" id="{704E1741-0D28-5B85-698D-89F6990D3578}"/>
              </a:ext>
            </a:extLst>
          </p:cNvPr>
          <p:cNvSpPr txBox="1"/>
          <p:nvPr/>
        </p:nvSpPr>
        <p:spPr>
          <a:xfrm>
            <a:off x="457200" y="825499"/>
            <a:ext cx="11303000" cy="1117600"/>
          </a:xfrm>
          <a:prstGeom prst="rect">
            <a:avLst/>
          </a:prstGeom>
          <a:noFill/>
        </p:spPr>
        <p:txBody>
          <a:bodyPr vert="horz" wrap="square" lIns="0" tIns="0" rIns="0" bIns="0" rtlCol="0">
            <a:noAutofit/>
          </a:bodyPr>
          <a:lstStyle/>
          <a:p>
            <a:r>
              <a:rPr lang="en-US" sz="3100" b="1">
                <a:solidFill>
                  <a:srgbClr val="F2F6FC"/>
                </a:solidFill>
                <a:latin typeface="Aptos" panose="020B0004020202020204" pitchFamily="34" charset="0"/>
              </a:rPr>
              <a:t>One question. Three connected steps.</a:t>
            </a:r>
          </a:p>
        </p:txBody>
      </p:sp>
      <p:sp>
        <p:nvSpPr>
          <p:cNvPr id="5" name="TextBox 4">
            <a:extLst>
              <a:ext uri="{FF2B5EF4-FFF2-40B4-BE49-F238E27FC236}">
                <a16:creationId xmlns:a16="http://schemas.microsoft.com/office/drawing/2014/main" id="{42B4EB44-937F-6126-DF18-04A2CFF6864E}"/>
              </a:ext>
            </a:extLst>
          </p:cNvPr>
          <p:cNvSpPr txBox="1"/>
          <p:nvPr/>
        </p:nvSpPr>
        <p:spPr>
          <a:xfrm>
            <a:off x="457200" y="1968499"/>
            <a:ext cx="11239500" cy="571500"/>
          </a:xfrm>
          <a:prstGeom prst="rect">
            <a:avLst/>
          </a:prstGeom>
          <a:noFill/>
        </p:spPr>
        <p:txBody>
          <a:bodyPr vert="horz" wrap="square" lIns="0" tIns="0" rIns="0" bIns="0" rtlCol="0">
            <a:noAutofit/>
          </a:bodyPr>
          <a:lstStyle/>
          <a:p>
            <a:r>
              <a:rPr lang="en-US" sz="1500">
                <a:solidFill>
                  <a:srgbClr val="A5B4CA"/>
                </a:solidFill>
                <a:latin typeface="Aptos" panose="020B0004020202020204" pitchFamily="34" charset="0"/>
              </a:rPr>
              <a:t>"What changed for Compressor 1 - and which Compressor 1 do we mean?"</a:t>
            </a:r>
          </a:p>
        </p:txBody>
      </p:sp>
      <p:sp>
        <p:nvSpPr>
          <p:cNvPr id="6" name="Rectangle 5">
            <a:extLst>
              <a:ext uri="{FF2B5EF4-FFF2-40B4-BE49-F238E27FC236}">
                <a16:creationId xmlns:a16="http://schemas.microsoft.com/office/drawing/2014/main" id="{49133E6E-D931-FF60-0762-AFABA37983BB}"/>
              </a:ext>
            </a:extLst>
          </p:cNvPr>
          <p:cNvSpPr/>
          <p:nvPr/>
        </p:nvSpPr>
        <p:spPr>
          <a:xfrm>
            <a:off x="457200" y="6400800"/>
            <a:ext cx="11277600" cy="12700"/>
          </a:xfrm>
          <a:prstGeom prst="rect">
            <a:avLst/>
          </a:prstGeom>
          <a:solidFill>
            <a:srgbClr val="26374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E773776-308E-ADBF-F5E2-49084799EDFD}"/>
              </a:ext>
            </a:extLst>
          </p:cNvPr>
          <p:cNvSpPr txBox="1"/>
          <p:nvPr/>
        </p:nvSpPr>
        <p:spPr>
          <a:xfrm>
            <a:off x="457200" y="6553200"/>
            <a:ext cx="9398000" cy="165100"/>
          </a:xfrm>
          <a:prstGeom prst="rect">
            <a:avLst/>
          </a:prstGeom>
          <a:noFill/>
        </p:spPr>
        <p:txBody>
          <a:bodyPr vert="horz" wrap="square" lIns="0" tIns="0" rIns="0" bIns="0" rtlCol="0">
            <a:noAutofit/>
          </a:bodyPr>
          <a:lstStyle/>
          <a:p>
            <a:r>
              <a:rPr lang="en-US" sz="800">
                <a:solidFill>
                  <a:srgbClr val="A5B4CA"/>
                </a:solidFill>
                <a:latin typeface="Aptos" panose="020B0004020202020204" pitchFamily="34" charset="0"/>
              </a:rPr>
              <a:t>EXXONMOBIL  /  FABRIC REAL-TIME INTELLIGENCE DEMO</a:t>
            </a:r>
          </a:p>
        </p:txBody>
      </p:sp>
      <p:sp>
        <p:nvSpPr>
          <p:cNvPr id="8" name="TextBox 7">
            <a:extLst>
              <a:ext uri="{FF2B5EF4-FFF2-40B4-BE49-F238E27FC236}">
                <a16:creationId xmlns:a16="http://schemas.microsoft.com/office/drawing/2014/main" id="{89D03952-8120-0807-3520-AAD56AD69299}"/>
              </a:ext>
            </a:extLst>
          </p:cNvPr>
          <p:cNvSpPr txBox="1"/>
          <p:nvPr/>
        </p:nvSpPr>
        <p:spPr>
          <a:xfrm>
            <a:off x="11303000" y="6515100"/>
            <a:ext cx="431800" cy="215900"/>
          </a:xfrm>
          <a:prstGeom prst="rect">
            <a:avLst/>
          </a:prstGeom>
          <a:noFill/>
        </p:spPr>
        <p:txBody>
          <a:bodyPr vert="horz" wrap="square" lIns="0" tIns="0" rIns="0" bIns="0" rtlCol="0">
            <a:noAutofit/>
          </a:bodyPr>
          <a:lstStyle/>
          <a:p>
            <a:r>
              <a:rPr lang="en-US" sz="1000">
                <a:solidFill>
                  <a:srgbClr val="A5B4CA"/>
                </a:solidFill>
                <a:latin typeface="Aptos" panose="020B0004020202020204" pitchFamily="34" charset="0"/>
              </a:rPr>
              <a:t>02</a:t>
            </a:r>
          </a:p>
        </p:txBody>
      </p:sp>
      <p:sp>
        <p:nvSpPr>
          <p:cNvPr id="9" name="Rectangle: Rounded Corners 8">
            <a:extLst>
              <a:ext uri="{FF2B5EF4-FFF2-40B4-BE49-F238E27FC236}">
                <a16:creationId xmlns:a16="http://schemas.microsoft.com/office/drawing/2014/main" id="{F22726E7-A9A5-BCF9-910E-BBDE54D30EDB}"/>
              </a:ext>
            </a:extLst>
          </p:cNvPr>
          <p:cNvSpPr/>
          <p:nvPr/>
        </p:nvSpPr>
        <p:spPr>
          <a:xfrm>
            <a:off x="457200" y="2806700"/>
            <a:ext cx="3581400" cy="25527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72CB70-DC19-6372-34E7-B21422476872}"/>
              </a:ext>
            </a:extLst>
          </p:cNvPr>
          <p:cNvSpPr txBox="1"/>
          <p:nvPr/>
        </p:nvSpPr>
        <p:spPr>
          <a:xfrm>
            <a:off x="685800" y="3009899"/>
            <a:ext cx="889000" cy="520700"/>
          </a:xfrm>
          <a:prstGeom prst="rect">
            <a:avLst/>
          </a:prstGeom>
          <a:noFill/>
        </p:spPr>
        <p:txBody>
          <a:bodyPr vert="horz" wrap="square" lIns="0" tIns="0" rIns="0" bIns="0" rtlCol="0">
            <a:noAutofit/>
          </a:bodyPr>
          <a:lstStyle/>
          <a:p>
            <a:r>
              <a:rPr lang="en-US" sz="2900" b="1">
                <a:solidFill>
                  <a:srgbClr val="54D8D0"/>
                </a:solidFill>
                <a:latin typeface="Aptos" panose="020B0004020202020204" pitchFamily="34" charset="0"/>
              </a:rPr>
              <a:t>01</a:t>
            </a:r>
          </a:p>
        </p:txBody>
      </p:sp>
      <p:sp>
        <p:nvSpPr>
          <p:cNvPr id="11" name="TextBox 10">
            <a:extLst>
              <a:ext uri="{FF2B5EF4-FFF2-40B4-BE49-F238E27FC236}">
                <a16:creationId xmlns:a16="http://schemas.microsoft.com/office/drawing/2014/main" id="{AE291AAE-B6E4-C524-5446-64D3C943B655}"/>
              </a:ext>
            </a:extLst>
          </p:cNvPr>
          <p:cNvSpPr txBox="1"/>
          <p:nvPr/>
        </p:nvSpPr>
        <p:spPr>
          <a:xfrm>
            <a:off x="685800" y="3708399"/>
            <a:ext cx="3149600" cy="381000"/>
          </a:xfrm>
          <a:prstGeom prst="rect">
            <a:avLst/>
          </a:prstGeom>
          <a:noFill/>
        </p:spPr>
        <p:txBody>
          <a:bodyPr vert="horz" wrap="square" lIns="0" tIns="0" rIns="0" bIns="0" rtlCol="0">
            <a:noAutofit/>
          </a:bodyPr>
          <a:lstStyle/>
          <a:p>
            <a:r>
              <a:rPr lang="en-US" sz="2100" b="1">
                <a:solidFill>
                  <a:srgbClr val="F2F6FC"/>
                </a:solidFill>
                <a:latin typeface="Aptos" panose="020B0004020202020204" pitchFamily="34" charset="0"/>
              </a:rPr>
              <a:t>See the signal</a:t>
            </a:r>
          </a:p>
        </p:txBody>
      </p:sp>
      <p:sp>
        <p:nvSpPr>
          <p:cNvPr id="12" name="TextBox 11">
            <a:extLst>
              <a:ext uri="{FF2B5EF4-FFF2-40B4-BE49-F238E27FC236}">
                <a16:creationId xmlns:a16="http://schemas.microsoft.com/office/drawing/2014/main" id="{4AE44111-4E93-1EDA-4789-DDD9FE58F121}"/>
              </a:ext>
            </a:extLst>
          </p:cNvPr>
          <p:cNvSpPr txBox="1"/>
          <p:nvPr/>
        </p:nvSpPr>
        <p:spPr>
          <a:xfrm>
            <a:off x="685800" y="4317999"/>
            <a:ext cx="3111500" cy="850900"/>
          </a:xfrm>
          <a:prstGeom prst="rect">
            <a:avLst/>
          </a:prstGeom>
          <a:noFill/>
        </p:spPr>
        <p:txBody>
          <a:bodyPr vert="horz" wrap="square" lIns="0" tIns="0" rIns="0" bIns="0" rtlCol="0">
            <a:noAutofit/>
          </a:bodyPr>
          <a:lstStyle/>
          <a:p>
            <a:r>
              <a:rPr lang="en-US" sz="1600">
                <a:solidFill>
                  <a:srgbClr val="A5B4CA"/>
                </a:solidFill>
                <a:latin typeface="Aptos" panose="020B0004020202020204" pitchFamily="34" charset="0"/>
              </a:rPr>
              <a:t>Compare pressure trends.
Keep event time and units visible.</a:t>
            </a:r>
          </a:p>
        </p:txBody>
      </p:sp>
      <p:sp>
        <p:nvSpPr>
          <p:cNvPr id="13" name="Rectangle: Rounded Corners 12">
            <a:extLst>
              <a:ext uri="{FF2B5EF4-FFF2-40B4-BE49-F238E27FC236}">
                <a16:creationId xmlns:a16="http://schemas.microsoft.com/office/drawing/2014/main" id="{A82B11D7-E35B-9188-7503-AC673A95831C}"/>
              </a:ext>
            </a:extLst>
          </p:cNvPr>
          <p:cNvSpPr/>
          <p:nvPr/>
        </p:nvSpPr>
        <p:spPr>
          <a:xfrm>
            <a:off x="4267200" y="2806700"/>
            <a:ext cx="3581400" cy="25527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A7FF3E8-39A1-7935-C45D-06E4CA3C69CF}"/>
              </a:ext>
            </a:extLst>
          </p:cNvPr>
          <p:cNvSpPr txBox="1"/>
          <p:nvPr/>
        </p:nvSpPr>
        <p:spPr>
          <a:xfrm>
            <a:off x="4495800" y="3009899"/>
            <a:ext cx="889000" cy="520700"/>
          </a:xfrm>
          <a:prstGeom prst="rect">
            <a:avLst/>
          </a:prstGeom>
          <a:noFill/>
        </p:spPr>
        <p:txBody>
          <a:bodyPr vert="horz" wrap="square" lIns="0" tIns="0" rIns="0" bIns="0" rtlCol="0">
            <a:noAutofit/>
          </a:bodyPr>
          <a:lstStyle/>
          <a:p>
            <a:r>
              <a:rPr lang="en-US" sz="2900" b="1">
                <a:solidFill>
                  <a:srgbClr val="54D8D0"/>
                </a:solidFill>
                <a:latin typeface="Aptos" panose="020B0004020202020204" pitchFamily="34" charset="0"/>
              </a:rPr>
              <a:t>02</a:t>
            </a:r>
          </a:p>
        </p:txBody>
      </p:sp>
      <p:sp>
        <p:nvSpPr>
          <p:cNvPr id="15" name="TextBox 14">
            <a:extLst>
              <a:ext uri="{FF2B5EF4-FFF2-40B4-BE49-F238E27FC236}">
                <a16:creationId xmlns:a16="http://schemas.microsoft.com/office/drawing/2014/main" id="{9B0A9FBC-C8DB-BB48-A020-5A9CD8036073}"/>
              </a:ext>
            </a:extLst>
          </p:cNvPr>
          <p:cNvSpPr txBox="1"/>
          <p:nvPr/>
        </p:nvSpPr>
        <p:spPr>
          <a:xfrm>
            <a:off x="4495800" y="3708399"/>
            <a:ext cx="3149600" cy="381000"/>
          </a:xfrm>
          <a:prstGeom prst="rect">
            <a:avLst/>
          </a:prstGeom>
          <a:noFill/>
        </p:spPr>
        <p:txBody>
          <a:bodyPr vert="horz" wrap="square" lIns="0" tIns="0" rIns="0" bIns="0" rtlCol="0">
            <a:noAutofit/>
          </a:bodyPr>
          <a:lstStyle/>
          <a:p>
            <a:r>
              <a:rPr lang="en-US" sz="2100" b="1">
                <a:solidFill>
                  <a:srgbClr val="F2F6FC"/>
                </a:solidFill>
                <a:latin typeface="Aptos" panose="020B0004020202020204" pitchFamily="34" charset="0"/>
              </a:rPr>
              <a:t>Resolve the context</a:t>
            </a:r>
          </a:p>
        </p:txBody>
      </p:sp>
      <p:sp>
        <p:nvSpPr>
          <p:cNvPr id="16" name="TextBox 15">
            <a:extLst>
              <a:ext uri="{FF2B5EF4-FFF2-40B4-BE49-F238E27FC236}">
                <a16:creationId xmlns:a16="http://schemas.microsoft.com/office/drawing/2014/main" id="{CE370037-02F7-0B1B-72D4-581757EF836B}"/>
              </a:ext>
            </a:extLst>
          </p:cNvPr>
          <p:cNvSpPr txBox="1"/>
          <p:nvPr/>
        </p:nvSpPr>
        <p:spPr>
          <a:xfrm>
            <a:off x="4495800" y="4317999"/>
            <a:ext cx="3111500" cy="850900"/>
          </a:xfrm>
          <a:prstGeom prst="rect">
            <a:avLst/>
          </a:prstGeom>
          <a:noFill/>
        </p:spPr>
        <p:txBody>
          <a:bodyPr vert="horz" wrap="square" lIns="0" tIns="0" rIns="0" bIns="0" rtlCol="0">
            <a:noAutofit/>
          </a:bodyPr>
          <a:lstStyle/>
          <a:p>
            <a:r>
              <a:rPr lang="en-US" sz="1600">
                <a:solidFill>
                  <a:srgbClr val="A5B4CA"/>
                </a:solidFill>
                <a:latin typeface="Aptos" panose="020B0004020202020204" pitchFamily="34" charset="0"/>
              </a:rPr>
              <a:t>Identify site and compressor.
Avoid mixing similarly named assets.</a:t>
            </a:r>
          </a:p>
        </p:txBody>
      </p:sp>
      <p:sp>
        <p:nvSpPr>
          <p:cNvPr id="17" name="Rectangle: Rounded Corners 16">
            <a:extLst>
              <a:ext uri="{FF2B5EF4-FFF2-40B4-BE49-F238E27FC236}">
                <a16:creationId xmlns:a16="http://schemas.microsoft.com/office/drawing/2014/main" id="{DAD0CB98-935F-8B24-043D-219DF911F7C0}"/>
              </a:ext>
            </a:extLst>
          </p:cNvPr>
          <p:cNvSpPr/>
          <p:nvPr/>
        </p:nvSpPr>
        <p:spPr>
          <a:xfrm>
            <a:off x="8077200" y="2806700"/>
            <a:ext cx="3581400" cy="25527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9367945-06CB-863B-DF62-B195C55EF097}"/>
              </a:ext>
            </a:extLst>
          </p:cNvPr>
          <p:cNvSpPr txBox="1"/>
          <p:nvPr/>
        </p:nvSpPr>
        <p:spPr>
          <a:xfrm>
            <a:off x="8305800" y="3009899"/>
            <a:ext cx="889000" cy="520700"/>
          </a:xfrm>
          <a:prstGeom prst="rect">
            <a:avLst/>
          </a:prstGeom>
          <a:noFill/>
        </p:spPr>
        <p:txBody>
          <a:bodyPr vert="horz" wrap="square" lIns="0" tIns="0" rIns="0" bIns="0" rtlCol="0">
            <a:noAutofit/>
          </a:bodyPr>
          <a:lstStyle/>
          <a:p>
            <a:r>
              <a:rPr lang="en-US" sz="2900" b="1">
                <a:solidFill>
                  <a:srgbClr val="54D8D0"/>
                </a:solidFill>
                <a:latin typeface="Aptos" panose="020B0004020202020204" pitchFamily="34" charset="0"/>
              </a:rPr>
              <a:t>03</a:t>
            </a:r>
          </a:p>
        </p:txBody>
      </p:sp>
      <p:sp>
        <p:nvSpPr>
          <p:cNvPr id="19" name="TextBox 18">
            <a:extLst>
              <a:ext uri="{FF2B5EF4-FFF2-40B4-BE49-F238E27FC236}">
                <a16:creationId xmlns:a16="http://schemas.microsoft.com/office/drawing/2014/main" id="{88CE8BBF-032F-4129-5C9E-EC311766AA6F}"/>
              </a:ext>
            </a:extLst>
          </p:cNvPr>
          <p:cNvSpPr txBox="1"/>
          <p:nvPr/>
        </p:nvSpPr>
        <p:spPr>
          <a:xfrm>
            <a:off x="8305800" y="3708399"/>
            <a:ext cx="3149600" cy="381000"/>
          </a:xfrm>
          <a:prstGeom prst="rect">
            <a:avLst/>
          </a:prstGeom>
          <a:noFill/>
        </p:spPr>
        <p:txBody>
          <a:bodyPr vert="horz" wrap="square" lIns="0" tIns="0" rIns="0" bIns="0" rtlCol="0">
            <a:noAutofit/>
          </a:bodyPr>
          <a:lstStyle/>
          <a:p>
            <a:r>
              <a:rPr lang="en-US" sz="2100" b="1">
                <a:solidFill>
                  <a:srgbClr val="F2F6FC"/>
                </a:solidFill>
                <a:latin typeface="Aptos" panose="020B0004020202020204" pitchFamily="34" charset="0"/>
              </a:rPr>
              <a:t>Explain the answer</a:t>
            </a:r>
          </a:p>
        </p:txBody>
      </p:sp>
      <p:sp>
        <p:nvSpPr>
          <p:cNvPr id="20" name="TextBox 19">
            <a:extLst>
              <a:ext uri="{FF2B5EF4-FFF2-40B4-BE49-F238E27FC236}">
                <a16:creationId xmlns:a16="http://schemas.microsoft.com/office/drawing/2014/main" id="{0F2C93DB-DFA6-BFA1-052C-41F916B84616}"/>
              </a:ext>
            </a:extLst>
          </p:cNvPr>
          <p:cNvSpPr txBox="1"/>
          <p:nvPr/>
        </p:nvSpPr>
        <p:spPr>
          <a:xfrm>
            <a:off x="8305800" y="4317999"/>
            <a:ext cx="3111500" cy="850900"/>
          </a:xfrm>
          <a:prstGeom prst="rect">
            <a:avLst/>
          </a:prstGeom>
          <a:noFill/>
        </p:spPr>
        <p:txBody>
          <a:bodyPr vert="horz" wrap="square" lIns="0" tIns="0" rIns="0" bIns="0" rtlCol="0">
            <a:noAutofit/>
          </a:bodyPr>
          <a:lstStyle/>
          <a:p>
            <a:r>
              <a:rPr lang="en-US" sz="1600">
                <a:solidFill>
                  <a:srgbClr val="A5B4CA"/>
                </a:solidFill>
                <a:latin typeface="Aptos" panose="020B0004020202020204" pitchFamily="34" charset="0"/>
              </a:rPr>
              <a:t>Ask a grounded question.
Show the window, source and freshness.</a:t>
            </a:r>
          </a:p>
        </p:txBody>
      </p:sp>
      <p:sp>
        <p:nvSpPr>
          <p:cNvPr id="21" name="Rectangle: Rounded Corners 20">
            <a:extLst>
              <a:ext uri="{FF2B5EF4-FFF2-40B4-BE49-F238E27FC236}">
                <a16:creationId xmlns:a16="http://schemas.microsoft.com/office/drawing/2014/main" id="{345E0CEC-5866-CA90-C46F-04622936555A}"/>
              </a:ext>
            </a:extLst>
          </p:cNvPr>
          <p:cNvSpPr/>
          <p:nvPr/>
        </p:nvSpPr>
        <p:spPr>
          <a:xfrm>
            <a:off x="457200" y="5651500"/>
            <a:ext cx="11277600" cy="5080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BDC1A10-6AE7-709A-736C-E352E95AF1E0}"/>
              </a:ext>
            </a:extLst>
          </p:cNvPr>
          <p:cNvSpPr txBox="1"/>
          <p:nvPr/>
        </p:nvSpPr>
        <p:spPr>
          <a:xfrm>
            <a:off x="673100" y="5778499"/>
            <a:ext cx="10795000" cy="292100"/>
          </a:xfrm>
          <a:prstGeom prst="rect">
            <a:avLst/>
          </a:prstGeom>
          <a:noFill/>
        </p:spPr>
        <p:txBody>
          <a:bodyPr vert="horz" wrap="square" lIns="0" tIns="0" rIns="0" bIns="0" rtlCol="0">
            <a:noAutofit/>
          </a:bodyPr>
          <a:lstStyle/>
          <a:p>
            <a:r>
              <a:rPr lang="en-US" sz="1500" b="1">
                <a:solidFill>
                  <a:srgbClr val="F2BD70"/>
                </a:solidFill>
                <a:latin typeface="Aptos" panose="020B0004020202020204" pitchFamily="34" charset="0"/>
              </a:rPr>
              <a:t>Trust rule: stale or missing data is not evidence that an asset is healthy.</a:t>
            </a:r>
          </a:p>
        </p:txBody>
      </p:sp>
    </p:spTree>
    <p:extLst>
      <p:ext uri="{BB962C8B-B14F-4D97-AF65-F5344CB8AC3E}">
        <p14:creationId xmlns:p14="http://schemas.microsoft.com/office/powerpoint/2010/main" val="31508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9ECA69-8DEB-9C13-E493-3B9AD94869E9}"/>
              </a:ext>
            </a:extLst>
          </p:cNvPr>
          <p:cNvSpPr/>
          <p:nvPr/>
        </p:nvSpPr>
        <p:spPr>
          <a:xfrm>
            <a:off x="457200" y="381000"/>
            <a:ext cx="304800" cy="38100"/>
          </a:xfrm>
          <a:prstGeom prst="rect">
            <a:avLst/>
          </a:prstGeom>
          <a:solidFill>
            <a:srgbClr val="54D8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510173C-3166-E4BD-9DF9-BE3566A9B76C}"/>
              </a:ext>
            </a:extLst>
          </p:cNvPr>
          <p:cNvSpPr txBox="1"/>
          <p:nvPr/>
        </p:nvSpPr>
        <p:spPr>
          <a:xfrm>
            <a:off x="889000" y="292100"/>
            <a:ext cx="8890000" cy="241300"/>
          </a:xfrm>
          <a:prstGeom prst="rect">
            <a:avLst/>
          </a:prstGeom>
          <a:noFill/>
        </p:spPr>
        <p:txBody>
          <a:bodyPr vert="horz" wrap="square" lIns="0" tIns="0" rIns="0" bIns="0" rtlCol="0">
            <a:noAutofit/>
          </a:bodyPr>
          <a:lstStyle/>
          <a:p>
            <a:r>
              <a:rPr lang="en-US" sz="1000" b="1">
                <a:solidFill>
                  <a:srgbClr val="54D8D0"/>
                </a:solidFill>
                <a:latin typeface="Aptos" panose="020B0004020202020204" pitchFamily="34" charset="0"/>
              </a:rPr>
              <a:t>ARCHITECTURE</a:t>
            </a:r>
          </a:p>
        </p:txBody>
      </p:sp>
      <p:sp>
        <p:nvSpPr>
          <p:cNvPr id="4" name="TextBox 3">
            <a:extLst>
              <a:ext uri="{FF2B5EF4-FFF2-40B4-BE49-F238E27FC236}">
                <a16:creationId xmlns:a16="http://schemas.microsoft.com/office/drawing/2014/main" id="{6364B508-E375-EBA6-EAE6-3539B69C7356}"/>
              </a:ext>
            </a:extLst>
          </p:cNvPr>
          <p:cNvSpPr txBox="1"/>
          <p:nvPr/>
        </p:nvSpPr>
        <p:spPr>
          <a:xfrm>
            <a:off x="457200" y="825499"/>
            <a:ext cx="11303000" cy="1117600"/>
          </a:xfrm>
          <a:prstGeom prst="rect">
            <a:avLst/>
          </a:prstGeom>
          <a:noFill/>
        </p:spPr>
        <p:txBody>
          <a:bodyPr vert="horz" wrap="square" lIns="0" tIns="0" rIns="0" bIns="0" rtlCol="0">
            <a:noAutofit/>
          </a:bodyPr>
          <a:lstStyle/>
          <a:p>
            <a:r>
              <a:rPr lang="en-US" sz="3100" b="1">
                <a:solidFill>
                  <a:srgbClr val="F2F6FC"/>
                </a:solidFill>
                <a:latin typeface="Aptos" panose="020B0004020202020204" pitchFamily="34" charset="0"/>
              </a:rPr>
              <a:t>A connected path - without replacing the estate</a:t>
            </a:r>
          </a:p>
        </p:txBody>
      </p:sp>
      <p:sp>
        <p:nvSpPr>
          <p:cNvPr id="5" name="TextBox 4">
            <a:extLst>
              <a:ext uri="{FF2B5EF4-FFF2-40B4-BE49-F238E27FC236}">
                <a16:creationId xmlns:a16="http://schemas.microsoft.com/office/drawing/2014/main" id="{B015DF02-E650-5640-ECF6-846505D3F065}"/>
              </a:ext>
            </a:extLst>
          </p:cNvPr>
          <p:cNvSpPr txBox="1"/>
          <p:nvPr/>
        </p:nvSpPr>
        <p:spPr>
          <a:xfrm>
            <a:off x="457200" y="1968499"/>
            <a:ext cx="11239500" cy="571500"/>
          </a:xfrm>
          <a:prstGeom prst="rect">
            <a:avLst/>
          </a:prstGeom>
          <a:noFill/>
        </p:spPr>
        <p:txBody>
          <a:bodyPr vert="horz" wrap="square" lIns="0" tIns="0" rIns="0" bIns="0" rtlCol="0">
            <a:noAutofit/>
          </a:bodyPr>
          <a:lstStyle/>
          <a:p>
            <a:r>
              <a:rPr lang="en-US" sz="1500">
                <a:solidFill>
                  <a:srgbClr val="A5B4CA"/>
                </a:solidFill>
                <a:latin typeface="Aptos" panose="020B0004020202020204" pitchFamily="34" charset="0"/>
              </a:rPr>
              <a:t>Solid teal = verified demo path   |   Dashed amber = planned or not yet qualified</a:t>
            </a:r>
          </a:p>
        </p:txBody>
      </p:sp>
      <p:sp>
        <p:nvSpPr>
          <p:cNvPr id="6" name="Rectangle 5">
            <a:extLst>
              <a:ext uri="{FF2B5EF4-FFF2-40B4-BE49-F238E27FC236}">
                <a16:creationId xmlns:a16="http://schemas.microsoft.com/office/drawing/2014/main" id="{CD81D9CE-4979-9927-C5D7-230C7C5D3B27}"/>
              </a:ext>
            </a:extLst>
          </p:cNvPr>
          <p:cNvSpPr/>
          <p:nvPr/>
        </p:nvSpPr>
        <p:spPr>
          <a:xfrm>
            <a:off x="457200" y="6400800"/>
            <a:ext cx="11277600" cy="12700"/>
          </a:xfrm>
          <a:prstGeom prst="rect">
            <a:avLst/>
          </a:prstGeom>
          <a:solidFill>
            <a:srgbClr val="26374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ADCBD3E-706D-43A9-980B-7DE03113C085}"/>
              </a:ext>
            </a:extLst>
          </p:cNvPr>
          <p:cNvSpPr txBox="1"/>
          <p:nvPr/>
        </p:nvSpPr>
        <p:spPr>
          <a:xfrm>
            <a:off x="457200" y="6553200"/>
            <a:ext cx="9398000" cy="165100"/>
          </a:xfrm>
          <a:prstGeom prst="rect">
            <a:avLst/>
          </a:prstGeom>
          <a:noFill/>
        </p:spPr>
        <p:txBody>
          <a:bodyPr vert="horz" wrap="square" lIns="0" tIns="0" rIns="0" bIns="0" rtlCol="0">
            <a:noAutofit/>
          </a:bodyPr>
          <a:lstStyle/>
          <a:p>
            <a:r>
              <a:rPr lang="en-US" sz="800">
                <a:solidFill>
                  <a:srgbClr val="A5B4CA"/>
                </a:solidFill>
                <a:latin typeface="Aptos" panose="020B0004020202020204" pitchFamily="34" charset="0"/>
              </a:rPr>
              <a:t>EXXONMOBIL  /  FABRIC REAL-TIME INTELLIGENCE DEMO</a:t>
            </a:r>
          </a:p>
        </p:txBody>
      </p:sp>
      <p:sp>
        <p:nvSpPr>
          <p:cNvPr id="8" name="TextBox 7">
            <a:extLst>
              <a:ext uri="{FF2B5EF4-FFF2-40B4-BE49-F238E27FC236}">
                <a16:creationId xmlns:a16="http://schemas.microsoft.com/office/drawing/2014/main" id="{971CB109-675E-89FF-2B13-B1D8F8B02B0F}"/>
              </a:ext>
            </a:extLst>
          </p:cNvPr>
          <p:cNvSpPr txBox="1"/>
          <p:nvPr/>
        </p:nvSpPr>
        <p:spPr>
          <a:xfrm>
            <a:off x="11303000" y="6515100"/>
            <a:ext cx="431800" cy="215900"/>
          </a:xfrm>
          <a:prstGeom prst="rect">
            <a:avLst/>
          </a:prstGeom>
          <a:noFill/>
        </p:spPr>
        <p:txBody>
          <a:bodyPr vert="horz" wrap="square" lIns="0" tIns="0" rIns="0" bIns="0" rtlCol="0">
            <a:noAutofit/>
          </a:bodyPr>
          <a:lstStyle/>
          <a:p>
            <a:r>
              <a:rPr lang="en-US" sz="1000">
                <a:solidFill>
                  <a:srgbClr val="A5B4CA"/>
                </a:solidFill>
                <a:latin typeface="Aptos" panose="020B0004020202020204" pitchFamily="34" charset="0"/>
              </a:rPr>
              <a:t>03</a:t>
            </a:r>
          </a:p>
        </p:txBody>
      </p:sp>
      <p:sp>
        <p:nvSpPr>
          <p:cNvPr id="9" name="Rectangle: Rounded Corners 8">
            <a:extLst>
              <a:ext uri="{FF2B5EF4-FFF2-40B4-BE49-F238E27FC236}">
                <a16:creationId xmlns:a16="http://schemas.microsoft.com/office/drawing/2014/main" id="{145B99B4-767F-46F6-040C-7DFE09472629}"/>
              </a:ext>
            </a:extLst>
          </p:cNvPr>
          <p:cNvSpPr/>
          <p:nvPr/>
        </p:nvSpPr>
        <p:spPr>
          <a:xfrm>
            <a:off x="279400" y="2679700"/>
            <a:ext cx="11633200" cy="30861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7DDF4EC-AD19-04AE-CEFD-E1DD09B06278}"/>
              </a:ext>
            </a:extLst>
          </p:cNvPr>
          <p:cNvCxnSpPr/>
          <p:nvPr/>
        </p:nvCxnSpPr>
        <p:spPr>
          <a:xfrm>
            <a:off x="2413000" y="3365500"/>
            <a:ext cx="635000" cy="0"/>
          </a:xfrm>
          <a:prstGeom prst="line">
            <a:avLst/>
          </a:prstGeom>
          <a:ln w="21590">
            <a:solidFill>
              <a:srgbClr val="54D8D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28D6757-C358-7B7D-4777-DAC65816A557}"/>
              </a:ext>
            </a:extLst>
          </p:cNvPr>
          <p:cNvCxnSpPr/>
          <p:nvPr/>
        </p:nvCxnSpPr>
        <p:spPr>
          <a:xfrm>
            <a:off x="5181600" y="3365500"/>
            <a:ext cx="635000" cy="0"/>
          </a:xfrm>
          <a:prstGeom prst="line">
            <a:avLst/>
          </a:prstGeom>
          <a:ln w="21590">
            <a:solidFill>
              <a:srgbClr val="54D8D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BF3ACEC-A492-B91D-199F-FAF35A817A5C}"/>
              </a:ext>
            </a:extLst>
          </p:cNvPr>
          <p:cNvCxnSpPr/>
          <p:nvPr/>
        </p:nvCxnSpPr>
        <p:spPr>
          <a:xfrm>
            <a:off x="7950200" y="3365500"/>
            <a:ext cx="635000" cy="0"/>
          </a:xfrm>
          <a:prstGeom prst="line">
            <a:avLst/>
          </a:prstGeom>
          <a:ln w="21590">
            <a:solidFill>
              <a:srgbClr val="54D8D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449A444-785E-48E8-16C3-FA9241979F98}"/>
              </a:ext>
            </a:extLst>
          </p:cNvPr>
          <p:cNvCxnSpPr/>
          <p:nvPr/>
        </p:nvCxnSpPr>
        <p:spPr>
          <a:xfrm>
            <a:off x="4114800" y="3848100"/>
            <a:ext cx="0" cy="749300"/>
          </a:xfrm>
          <a:prstGeom prst="line">
            <a:avLst/>
          </a:prstGeom>
          <a:ln w="21590">
            <a:solidFill>
              <a:srgbClr val="54D8D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38CA5F7-74C4-3783-1004-D841ECD4BAB2}"/>
              </a:ext>
            </a:extLst>
          </p:cNvPr>
          <p:cNvCxnSpPr/>
          <p:nvPr/>
        </p:nvCxnSpPr>
        <p:spPr>
          <a:xfrm>
            <a:off x="5181600" y="4953000"/>
            <a:ext cx="635000" cy="0"/>
          </a:xfrm>
          <a:prstGeom prst="line">
            <a:avLst/>
          </a:prstGeom>
          <a:ln w="21590">
            <a:solidFill>
              <a:srgbClr val="F2BD7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83522A2-8220-F85E-2BF0-1C684956F2AA}"/>
              </a:ext>
            </a:extLst>
          </p:cNvPr>
          <p:cNvCxnSpPr/>
          <p:nvPr/>
        </p:nvCxnSpPr>
        <p:spPr>
          <a:xfrm>
            <a:off x="10109200" y="3848100"/>
            <a:ext cx="0" cy="622300"/>
          </a:xfrm>
          <a:prstGeom prst="line">
            <a:avLst/>
          </a:prstGeom>
          <a:ln w="21590">
            <a:solidFill>
              <a:srgbClr val="F2BD7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98DD426-54A8-78C8-428E-4AAF93647E5D}"/>
              </a:ext>
            </a:extLst>
          </p:cNvPr>
          <p:cNvCxnSpPr/>
          <p:nvPr/>
        </p:nvCxnSpPr>
        <p:spPr>
          <a:xfrm flipV="1">
            <a:off x="2413000" y="3848100"/>
            <a:ext cx="635000" cy="1104900"/>
          </a:xfrm>
          <a:prstGeom prst="line">
            <a:avLst/>
          </a:prstGeom>
          <a:ln w="21590">
            <a:solidFill>
              <a:srgbClr val="F2BD7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2D9E929E-64E4-9C79-63BB-21F71B886AD0}"/>
              </a:ext>
            </a:extLst>
          </p:cNvPr>
          <p:cNvSpPr/>
          <p:nvPr/>
        </p:nvSpPr>
        <p:spPr>
          <a:xfrm>
            <a:off x="508000" y="2882900"/>
            <a:ext cx="1905000" cy="965200"/>
          </a:xfrm>
          <a:prstGeom prst="roundRect">
            <a:avLst/>
          </a:prstGeom>
          <a:solidFill>
            <a:srgbClr val="0B1120"/>
          </a:solidFill>
          <a:ln w="10160">
            <a:solidFill>
              <a:srgbClr val="54D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9226CC5-A96E-D463-514F-B7C7B2559A2F}"/>
              </a:ext>
            </a:extLst>
          </p:cNvPr>
          <p:cNvSpPr txBox="1"/>
          <p:nvPr/>
        </p:nvSpPr>
        <p:spPr>
          <a:xfrm>
            <a:off x="660400" y="3009899"/>
            <a:ext cx="1600200" cy="330200"/>
          </a:xfrm>
          <a:prstGeom prst="rect">
            <a:avLst/>
          </a:prstGeom>
          <a:noFill/>
        </p:spPr>
        <p:txBody>
          <a:bodyPr vert="horz" wrap="square" lIns="0" tIns="0" rIns="0" bIns="0" rtlCol="0">
            <a:noAutofit/>
          </a:bodyPr>
          <a:lstStyle/>
          <a:p>
            <a:r>
              <a:rPr lang="en-US" sz="1600" b="1">
                <a:solidFill>
                  <a:srgbClr val="54D8D0"/>
                </a:solidFill>
                <a:latin typeface="Aptos" panose="020B0004020202020204" pitchFamily="34" charset="0"/>
              </a:rPr>
              <a:t>Synthetic source</a:t>
            </a:r>
          </a:p>
        </p:txBody>
      </p:sp>
      <p:sp>
        <p:nvSpPr>
          <p:cNvPr id="19" name="TextBox 18">
            <a:extLst>
              <a:ext uri="{FF2B5EF4-FFF2-40B4-BE49-F238E27FC236}">
                <a16:creationId xmlns:a16="http://schemas.microsoft.com/office/drawing/2014/main" id="{EB694B33-ED33-2454-0BFE-8E61315CDB5C}"/>
              </a:ext>
            </a:extLst>
          </p:cNvPr>
          <p:cNvSpPr txBox="1"/>
          <p:nvPr/>
        </p:nvSpPr>
        <p:spPr>
          <a:xfrm>
            <a:off x="660400" y="3378199"/>
            <a:ext cx="16002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Shared generator</a:t>
            </a:r>
          </a:p>
        </p:txBody>
      </p:sp>
      <p:sp>
        <p:nvSpPr>
          <p:cNvPr id="20" name="Rectangle: Rounded Corners 19">
            <a:extLst>
              <a:ext uri="{FF2B5EF4-FFF2-40B4-BE49-F238E27FC236}">
                <a16:creationId xmlns:a16="http://schemas.microsoft.com/office/drawing/2014/main" id="{3774B18D-6532-CE92-3D9F-583A932DB102}"/>
              </a:ext>
            </a:extLst>
          </p:cNvPr>
          <p:cNvSpPr/>
          <p:nvPr/>
        </p:nvSpPr>
        <p:spPr>
          <a:xfrm>
            <a:off x="3048000" y="2882900"/>
            <a:ext cx="2133600" cy="965200"/>
          </a:xfrm>
          <a:prstGeom prst="roundRect">
            <a:avLst/>
          </a:prstGeom>
          <a:solidFill>
            <a:srgbClr val="0B1120"/>
          </a:solidFill>
          <a:ln w="10160">
            <a:solidFill>
              <a:srgbClr val="54D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2EA34F1-D503-0985-9FE2-0D0C4A8F18AB}"/>
              </a:ext>
            </a:extLst>
          </p:cNvPr>
          <p:cNvSpPr txBox="1"/>
          <p:nvPr/>
        </p:nvSpPr>
        <p:spPr>
          <a:xfrm>
            <a:off x="3200400" y="3009899"/>
            <a:ext cx="1828800" cy="330200"/>
          </a:xfrm>
          <a:prstGeom prst="rect">
            <a:avLst/>
          </a:prstGeom>
          <a:noFill/>
        </p:spPr>
        <p:txBody>
          <a:bodyPr vert="horz" wrap="square" lIns="0" tIns="0" rIns="0" bIns="0" rtlCol="0">
            <a:noAutofit/>
          </a:bodyPr>
          <a:lstStyle/>
          <a:p>
            <a:r>
              <a:rPr lang="en-US" sz="1600" b="1">
                <a:solidFill>
                  <a:srgbClr val="54D8D0"/>
                </a:solidFill>
                <a:latin typeface="Aptos" panose="020B0004020202020204" pitchFamily="34" charset="0"/>
              </a:rPr>
              <a:t>Eventhouse / KQL</a:t>
            </a:r>
          </a:p>
        </p:txBody>
      </p:sp>
      <p:sp>
        <p:nvSpPr>
          <p:cNvPr id="22" name="TextBox 21">
            <a:extLst>
              <a:ext uri="{FF2B5EF4-FFF2-40B4-BE49-F238E27FC236}">
                <a16:creationId xmlns:a16="http://schemas.microsoft.com/office/drawing/2014/main" id="{7D4EB1ED-D465-4503-8769-999DD2ACC88C}"/>
              </a:ext>
            </a:extLst>
          </p:cNvPr>
          <p:cNvSpPr txBox="1"/>
          <p:nvPr/>
        </p:nvSpPr>
        <p:spPr>
          <a:xfrm>
            <a:off x="3200400" y="3378199"/>
            <a:ext cx="18288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Raw + typed telemetry</a:t>
            </a:r>
          </a:p>
        </p:txBody>
      </p:sp>
      <p:sp>
        <p:nvSpPr>
          <p:cNvPr id="23" name="Rectangle: Rounded Corners 22">
            <a:extLst>
              <a:ext uri="{FF2B5EF4-FFF2-40B4-BE49-F238E27FC236}">
                <a16:creationId xmlns:a16="http://schemas.microsoft.com/office/drawing/2014/main" id="{8D4A3D14-E570-D2E9-84DD-427D43F0FBB0}"/>
              </a:ext>
            </a:extLst>
          </p:cNvPr>
          <p:cNvSpPr/>
          <p:nvPr/>
        </p:nvSpPr>
        <p:spPr>
          <a:xfrm>
            <a:off x="5816600" y="2882900"/>
            <a:ext cx="2133600" cy="965200"/>
          </a:xfrm>
          <a:prstGeom prst="roundRect">
            <a:avLst/>
          </a:prstGeom>
          <a:solidFill>
            <a:srgbClr val="0B1120"/>
          </a:solidFill>
          <a:ln w="10160">
            <a:solidFill>
              <a:srgbClr val="54D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B89A4CA-C59B-BDC6-97BB-EB10BF683EDF}"/>
              </a:ext>
            </a:extLst>
          </p:cNvPr>
          <p:cNvSpPr txBox="1"/>
          <p:nvPr/>
        </p:nvSpPr>
        <p:spPr>
          <a:xfrm>
            <a:off x="5969000" y="3009899"/>
            <a:ext cx="1828800" cy="330200"/>
          </a:xfrm>
          <a:prstGeom prst="rect">
            <a:avLst/>
          </a:prstGeom>
          <a:noFill/>
        </p:spPr>
        <p:txBody>
          <a:bodyPr vert="horz" wrap="square" lIns="0" tIns="0" rIns="0" bIns="0" rtlCol="0">
            <a:noAutofit/>
          </a:bodyPr>
          <a:lstStyle/>
          <a:p>
            <a:r>
              <a:rPr lang="en-US" sz="1600" b="1">
                <a:solidFill>
                  <a:srgbClr val="54D8D0"/>
                </a:solidFill>
                <a:latin typeface="Aptos" panose="020B0004020202020204" pitchFamily="34" charset="0"/>
              </a:rPr>
              <a:t>Operational model</a:t>
            </a:r>
          </a:p>
        </p:txBody>
      </p:sp>
      <p:sp>
        <p:nvSpPr>
          <p:cNvPr id="25" name="TextBox 24">
            <a:extLst>
              <a:ext uri="{FF2B5EF4-FFF2-40B4-BE49-F238E27FC236}">
                <a16:creationId xmlns:a16="http://schemas.microsoft.com/office/drawing/2014/main" id="{C9F3E855-1045-28A6-4A1A-E622A2CC8107}"/>
              </a:ext>
            </a:extLst>
          </p:cNvPr>
          <p:cNvSpPr txBox="1"/>
          <p:nvPr/>
        </p:nvSpPr>
        <p:spPr>
          <a:xfrm>
            <a:off x="5969000" y="3378199"/>
            <a:ext cx="18288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Site &gt; asset &gt; tag</a:t>
            </a:r>
          </a:p>
        </p:txBody>
      </p:sp>
      <p:sp>
        <p:nvSpPr>
          <p:cNvPr id="26" name="Rectangle: Rounded Corners 25">
            <a:extLst>
              <a:ext uri="{FF2B5EF4-FFF2-40B4-BE49-F238E27FC236}">
                <a16:creationId xmlns:a16="http://schemas.microsoft.com/office/drawing/2014/main" id="{F8A24942-84EB-6F37-1912-C281F074A40B}"/>
              </a:ext>
            </a:extLst>
          </p:cNvPr>
          <p:cNvSpPr/>
          <p:nvPr/>
        </p:nvSpPr>
        <p:spPr>
          <a:xfrm>
            <a:off x="8585200" y="2882900"/>
            <a:ext cx="3048000" cy="965200"/>
          </a:xfrm>
          <a:prstGeom prst="roundRect">
            <a:avLst/>
          </a:prstGeom>
          <a:solidFill>
            <a:srgbClr val="0B1120"/>
          </a:solidFill>
          <a:ln w="10160">
            <a:solidFill>
              <a:srgbClr val="54D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9D38B41-B185-541F-7E7D-210AD3CAFCDA}"/>
              </a:ext>
            </a:extLst>
          </p:cNvPr>
          <p:cNvSpPr txBox="1"/>
          <p:nvPr/>
        </p:nvSpPr>
        <p:spPr>
          <a:xfrm>
            <a:off x="8737600" y="3009899"/>
            <a:ext cx="2743200" cy="330200"/>
          </a:xfrm>
          <a:prstGeom prst="rect">
            <a:avLst/>
          </a:prstGeom>
          <a:noFill/>
        </p:spPr>
        <p:txBody>
          <a:bodyPr vert="horz" wrap="square" lIns="0" tIns="0" rIns="0" bIns="0" rtlCol="0">
            <a:noAutofit/>
          </a:bodyPr>
          <a:lstStyle/>
          <a:p>
            <a:r>
              <a:rPr lang="en-US" sz="1600" b="1">
                <a:solidFill>
                  <a:srgbClr val="54D8D0"/>
                </a:solidFill>
                <a:latin typeface="Aptos" panose="020B0004020202020204" pitchFamily="34" charset="0"/>
              </a:rPr>
              <a:t>Operational answers</a:t>
            </a:r>
          </a:p>
        </p:txBody>
      </p:sp>
      <p:sp>
        <p:nvSpPr>
          <p:cNvPr id="28" name="TextBox 27">
            <a:extLst>
              <a:ext uri="{FF2B5EF4-FFF2-40B4-BE49-F238E27FC236}">
                <a16:creationId xmlns:a16="http://schemas.microsoft.com/office/drawing/2014/main" id="{34F14BB3-A4AA-85E9-F570-6BC165862E6E}"/>
              </a:ext>
            </a:extLst>
          </p:cNvPr>
          <p:cNvSpPr txBox="1"/>
          <p:nvPr/>
        </p:nvSpPr>
        <p:spPr>
          <a:xfrm>
            <a:off x="8737600" y="3378199"/>
            <a:ext cx="27432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KQL + grounded Data Agent</a:t>
            </a:r>
          </a:p>
        </p:txBody>
      </p:sp>
      <p:sp>
        <p:nvSpPr>
          <p:cNvPr id="29" name="Rectangle: Rounded Corners 28">
            <a:extLst>
              <a:ext uri="{FF2B5EF4-FFF2-40B4-BE49-F238E27FC236}">
                <a16:creationId xmlns:a16="http://schemas.microsoft.com/office/drawing/2014/main" id="{E38D5086-0481-131C-45C5-8FEC6DC4A389}"/>
              </a:ext>
            </a:extLst>
          </p:cNvPr>
          <p:cNvSpPr/>
          <p:nvPr/>
        </p:nvSpPr>
        <p:spPr>
          <a:xfrm>
            <a:off x="508000" y="4470400"/>
            <a:ext cx="1905000" cy="965200"/>
          </a:xfrm>
          <a:prstGeom prst="roundRect">
            <a:avLst/>
          </a:prstGeom>
          <a:solidFill>
            <a:srgbClr val="0B1120"/>
          </a:solidFill>
          <a:ln w="10160">
            <a:solidFill>
              <a:srgbClr val="F2B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04AB1B2-60D4-7B9A-B19C-39116BBAF28F}"/>
              </a:ext>
            </a:extLst>
          </p:cNvPr>
          <p:cNvSpPr txBox="1"/>
          <p:nvPr/>
        </p:nvSpPr>
        <p:spPr>
          <a:xfrm>
            <a:off x="660400" y="4597399"/>
            <a:ext cx="1600200" cy="330200"/>
          </a:xfrm>
          <a:prstGeom prst="rect">
            <a:avLst/>
          </a:prstGeom>
          <a:noFill/>
        </p:spPr>
        <p:txBody>
          <a:bodyPr vert="horz" wrap="square" lIns="0" tIns="0" rIns="0" bIns="0" rtlCol="0">
            <a:noAutofit/>
          </a:bodyPr>
          <a:lstStyle/>
          <a:p>
            <a:r>
              <a:rPr lang="en-US" sz="1600" b="1">
                <a:solidFill>
                  <a:srgbClr val="F2BD70"/>
                </a:solidFill>
                <a:latin typeface="Aptos" panose="020B0004020202020204" pitchFamily="34" charset="0"/>
              </a:rPr>
              <a:t>Eventstream</a:t>
            </a:r>
          </a:p>
        </p:txBody>
      </p:sp>
      <p:sp>
        <p:nvSpPr>
          <p:cNvPr id="31" name="TextBox 30">
            <a:extLst>
              <a:ext uri="{FF2B5EF4-FFF2-40B4-BE49-F238E27FC236}">
                <a16:creationId xmlns:a16="http://schemas.microsoft.com/office/drawing/2014/main" id="{8DAA210E-1B56-3EE8-AA58-15441F08FA20}"/>
              </a:ext>
            </a:extLst>
          </p:cNvPr>
          <p:cNvSpPr txBox="1"/>
          <p:nvPr/>
        </p:nvSpPr>
        <p:spPr>
          <a:xfrm>
            <a:off x="660400" y="4965699"/>
            <a:ext cx="16002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Kafka target; blocked</a:t>
            </a:r>
          </a:p>
        </p:txBody>
      </p:sp>
      <p:sp>
        <p:nvSpPr>
          <p:cNvPr id="32" name="Rectangle: Rounded Corners 31">
            <a:extLst>
              <a:ext uri="{FF2B5EF4-FFF2-40B4-BE49-F238E27FC236}">
                <a16:creationId xmlns:a16="http://schemas.microsoft.com/office/drawing/2014/main" id="{548A0322-4B5E-37A4-DAE1-57BCA9A5922D}"/>
              </a:ext>
            </a:extLst>
          </p:cNvPr>
          <p:cNvSpPr/>
          <p:nvPr/>
        </p:nvSpPr>
        <p:spPr>
          <a:xfrm>
            <a:off x="3048000" y="4470400"/>
            <a:ext cx="2133600" cy="965200"/>
          </a:xfrm>
          <a:prstGeom prst="roundRect">
            <a:avLst/>
          </a:prstGeom>
          <a:solidFill>
            <a:srgbClr val="0B1120"/>
          </a:solidFill>
          <a:ln w="10160">
            <a:solidFill>
              <a:srgbClr val="54D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951F2E1-03B5-9B78-5F23-C84BDFE164FA}"/>
              </a:ext>
            </a:extLst>
          </p:cNvPr>
          <p:cNvSpPr txBox="1"/>
          <p:nvPr/>
        </p:nvSpPr>
        <p:spPr>
          <a:xfrm>
            <a:off x="3200400" y="4597399"/>
            <a:ext cx="1828800" cy="330200"/>
          </a:xfrm>
          <a:prstGeom prst="rect">
            <a:avLst/>
          </a:prstGeom>
          <a:noFill/>
        </p:spPr>
        <p:txBody>
          <a:bodyPr vert="horz" wrap="square" lIns="0" tIns="0" rIns="0" bIns="0" rtlCol="0">
            <a:noAutofit/>
          </a:bodyPr>
          <a:lstStyle/>
          <a:p>
            <a:r>
              <a:rPr lang="en-US" sz="1600" b="1">
                <a:solidFill>
                  <a:srgbClr val="54D8D0"/>
                </a:solidFill>
                <a:latin typeface="Aptos" panose="020B0004020202020204" pitchFamily="34" charset="0"/>
              </a:rPr>
              <a:t>OneLake</a:t>
            </a:r>
          </a:p>
        </p:txBody>
      </p:sp>
      <p:sp>
        <p:nvSpPr>
          <p:cNvPr id="34" name="TextBox 33">
            <a:extLst>
              <a:ext uri="{FF2B5EF4-FFF2-40B4-BE49-F238E27FC236}">
                <a16:creationId xmlns:a16="http://schemas.microsoft.com/office/drawing/2014/main" id="{DE55FAAA-0268-1E9F-FE6C-111A2652EE42}"/>
              </a:ext>
            </a:extLst>
          </p:cNvPr>
          <p:cNvSpPr txBox="1"/>
          <p:nvPr/>
        </p:nvSpPr>
        <p:spPr>
          <a:xfrm>
            <a:off x="3200400" y="4965699"/>
            <a:ext cx="18288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Telemetry + reference data</a:t>
            </a:r>
          </a:p>
        </p:txBody>
      </p:sp>
      <p:sp>
        <p:nvSpPr>
          <p:cNvPr id="35" name="Rectangle: Rounded Corners 34">
            <a:extLst>
              <a:ext uri="{FF2B5EF4-FFF2-40B4-BE49-F238E27FC236}">
                <a16:creationId xmlns:a16="http://schemas.microsoft.com/office/drawing/2014/main" id="{CBE3E808-C0CF-AE2C-BA7B-10C4AF384821}"/>
              </a:ext>
            </a:extLst>
          </p:cNvPr>
          <p:cNvSpPr/>
          <p:nvPr/>
        </p:nvSpPr>
        <p:spPr>
          <a:xfrm>
            <a:off x="5816600" y="4470400"/>
            <a:ext cx="2133600" cy="965200"/>
          </a:xfrm>
          <a:prstGeom prst="roundRect">
            <a:avLst/>
          </a:prstGeom>
          <a:solidFill>
            <a:srgbClr val="0B1120"/>
          </a:solidFill>
          <a:ln w="10160">
            <a:solidFill>
              <a:srgbClr val="54D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9956AD1-23AC-3D93-047E-834749D77995}"/>
              </a:ext>
            </a:extLst>
          </p:cNvPr>
          <p:cNvSpPr txBox="1"/>
          <p:nvPr/>
        </p:nvSpPr>
        <p:spPr>
          <a:xfrm>
            <a:off x="5969000" y="4597399"/>
            <a:ext cx="1828800" cy="330200"/>
          </a:xfrm>
          <a:prstGeom prst="rect">
            <a:avLst/>
          </a:prstGeom>
          <a:noFill/>
        </p:spPr>
        <p:txBody>
          <a:bodyPr vert="horz" wrap="square" lIns="0" tIns="0" rIns="0" bIns="0" rtlCol="0">
            <a:noAutofit/>
          </a:bodyPr>
          <a:lstStyle/>
          <a:p>
            <a:r>
              <a:rPr lang="en-US" sz="1600" b="1">
                <a:solidFill>
                  <a:srgbClr val="54D8D0"/>
                </a:solidFill>
                <a:latin typeface="Aptos" panose="020B0004020202020204" pitchFamily="34" charset="0"/>
              </a:rPr>
              <a:t>Broader analytics</a:t>
            </a:r>
          </a:p>
        </p:txBody>
      </p:sp>
      <p:sp>
        <p:nvSpPr>
          <p:cNvPr id="37" name="TextBox 36">
            <a:extLst>
              <a:ext uri="{FF2B5EF4-FFF2-40B4-BE49-F238E27FC236}">
                <a16:creationId xmlns:a16="http://schemas.microsoft.com/office/drawing/2014/main" id="{28AA5566-A35E-0EB8-A07C-E5D69819FC49}"/>
              </a:ext>
            </a:extLst>
          </p:cNvPr>
          <p:cNvSpPr txBox="1"/>
          <p:nvPr/>
        </p:nvSpPr>
        <p:spPr>
          <a:xfrm>
            <a:off x="5969000" y="4965699"/>
            <a:ext cx="18288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Power BI / Databricks*</a:t>
            </a:r>
          </a:p>
        </p:txBody>
      </p:sp>
      <p:sp>
        <p:nvSpPr>
          <p:cNvPr id="38" name="Rectangle: Rounded Corners 37">
            <a:extLst>
              <a:ext uri="{FF2B5EF4-FFF2-40B4-BE49-F238E27FC236}">
                <a16:creationId xmlns:a16="http://schemas.microsoft.com/office/drawing/2014/main" id="{104B1DD5-F1F0-324C-08B4-D08271ABBCEA}"/>
              </a:ext>
            </a:extLst>
          </p:cNvPr>
          <p:cNvSpPr/>
          <p:nvPr/>
        </p:nvSpPr>
        <p:spPr>
          <a:xfrm>
            <a:off x="8585200" y="4470400"/>
            <a:ext cx="3048000" cy="965200"/>
          </a:xfrm>
          <a:prstGeom prst="roundRect">
            <a:avLst/>
          </a:prstGeom>
          <a:solidFill>
            <a:srgbClr val="0B1120"/>
          </a:solidFill>
          <a:ln w="10160">
            <a:solidFill>
              <a:srgbClr val="F2B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0FD3EC0-03DA-12ED-62BD-70F4979F3BB6}"/>
              </a:ext>
            </a:extLst>
          </p:cNvPr>
          <p:cNvSpPr txBox="1"/>
          <p:nvPr/>
        </p:nvSpPr>
        <p:spPr>
          <a:xfrm>
            <a:off x="8737600" y="4597399"/>
            <a:ext cx="2743200" cy="330200"/>
          </a:xfrm>
          <a:prstGeom prst="rect">
            <a:avLst/>
          </a:prstGeom>
          <a:noFill/>
        </p:spPr>
        <p:txBody>
          <a:bodyPr vert="horz" wrap="square" lIns="0" tIns="0" rIns="0" bIns="0" rtlCol="0">
            <a:noAutofit/>
          </a:bodyPr>
          <a:lstStyle/>
          <a:p>
            <a:r>
              <a:rPr lang="en-US" sz="1600" b="1">
                <a:solidFill>
                  <a:srgbClr val="F2BD70"/>
                </a:solidFill>
                <a:latin typeface="Aptos" panose="020B0004020202020204" pitchFamily="34" charset="0"/>
              </a:rPr>
              <a:t>Activator: next step</a:t>
            </a:r>
          </a:p>
        </p:txBody>
      </p:sp>
      <p:sp>
        <p:nvSpPr>
          <p:cNvPr id="40" name="TextBox 39">
            <a:extLst>
              <a:ext uri="{FF2B5EF4-FFF2-40B4-BE49-F238E27FC236}">
                <a16:creationId xmlns:a16="http://schemas.microsoft.com/office/drawing/2014/main" id="{FC8E7ED7-8C33-8C62-90BF-706A319B65B5}"/>
              </a:ext>
            </a:extLst>
          </p:cNvPr>
          <p:cNvSpPr txBox="1"/>
          <p:nvPr/>
        </p:nvSpPr>
        <p:spPr>
          <a:xfrm>
            <a:off x="8737600" y="4965699"/>
            <a:ext cx="2743200" cy="419100"/>
          </a:xfrm>
          <a:prstGeom prst="rect">
            <a:avLst/>
          </a:prstGeom>
          <a:noFill/>
        </p:spPr>
        <p:txBody>
          <a:bodyPr vert="horz" wrap="square" lIns="0" tIns="0" rIns="0" bIns="0" rtlCol="0">
            <a:noAutofit/>
          </a:bodyPr>
          <a:lstStyle/>
          <a:p>
            <a:r>
              <a:rPr lang="en-US" sz="1200">
                <a:solidFill>
                  <a:srgbClr val="A5B4CA"/>
                </a:solidFill>
                <a:latin typeface="Aptos" panose="020B0004020202020204" pitchFamily="34" charset="0"/>
              </a:rPr>
              <a:t>Stopped; no notifications</a:t>
            </a:r>
          </a:p>
        </p:txBody>
      </p:sp>
      <p:sp>
        <p:nvSpPr>
          <p:cNvPr id="41" name="TextBox 40">
            <a:extLst>
              <a:ext uri="{FF2B5EF4-FFF2-40B4-BE49-F238E27FC236}">
                <a16:creationId xmlns:a16="http://schemas.microsoft.com/office/drawing/2014/main" id="{5C64C1A2-4665-F6F4-835F-0ED6148CAA70}"/>
              </a:ext>
            </a:extLst>
          </p:cNvPr>
          <p:cNvSpPr txBox="1"/>
          <p:nvPr/>
        </p:nvSpPr>
        <p:spPr>
          <a:xfrm>
            <a:off x="457200" y="5918200"/>
            <a:ext cx="11277600" cy="215900"/>
          </a:xfrm>
          <a:prstGeom prst="rect">
            <a:avLst/>
          </a:prstGeom>
          <a:noFill/>
        </p:spPr>
        <p:txBody>
          <a:bodyPr vert="horz" wrap="square" lIns="0" tIns="0" rIns="0" bIns="0" rtlCol="0">
            <a:noAutofit/>
          </a:bodyPr>
          <a:lstStyle/>
          <a:p>
            <a:r>
              <a:rPr lang="en-US" sz="1000">
                <a:solidFill>
                  <a:srgbClr val="A5B4CA"/>
                </a:solidFill>
                <a:latin typeface="Aptos" panose="020B0004020202020204" pitchFamily="34" charset="0"/>
              </a:rPr>
              <a:t>*Downstream consumption is an integration direction, not a validated consumer workload.</a:t>
            </a:r>
          </a:p>
        </p:txBody>
      </p:sp>
      <p:sp>
        <p:nvSpPr>
          <p:cNvPr id="42" name="TextBox 41">
            <a:extLst>
              <a:ext uri="{FF2B5EF4-FFF2-40B4-BE49-F238E27FC236}">
                <a16:creationId xmlns:a16="http://schemas.microsoft.com/office/drawing/2014/main" id="{33926967-00F4-AFC5-2901-1997BA0026E0}"/>
              </a:ext>
            </a:extLst>
          </p:cNvPr>
          <p:cNvSpPr txBox="1"/>
          <p:nvPr/>
        </p:nvSpPr>
        <p:spPr>
          <a:xfrm>
            <a:off x="571500" y="3962400"/>
            <a:ext cx="2146300" cy="203200"/>
          </a:xfrm>
          <a:prstGeom prst="rect">
            <a:avLst/>
          </a:prstGeom>
          <a:noFill/>
        </p:spPr>
        <p:txBody>
          <a:bodyPr vert="horz" wrap="square" lIns="0" tIns="0" rIns="0" bIns="0" rtlCol="0">
            <a:noAutofit/>
          </a:bodyPr>
          <a:lstStyle/>
          <a:p>
            <a:r>
              <a:rPr lang="en-US" sz="1000">
                <a:solidFill>
                  <a:srgbClr val="54D8D0"/>
                </a:solidFill>
                <a:latin typeface="Aptos" panose="020B0004020202020204" pitchFamily="34" charset="0"/>
              </a:rPr>
              <a:t>Direct demo ingestion</a:t>
            </a:r>
          </a:p>
        </p:txBody>
      </p:sp>
      <p:sp>
        <p:nvSpPr>
          <p:cNvPr id="43" name="TextBox 42">
            <a:extLst>
              <a:ext uri="{FF2B5EF4-FFF2-40B4-BE49-F238E27FC236}">
                <a16:creationId xmlns:a16="http://schemas.microsoft.com/office/drawing/2014/main" id="{33FE55BC-6035-AEF1-E0A4-A526CE9FC3A8}"/>
              </a:ext>
            </a:extLst>
          </p:cNvPr>
          <p:cNvSpPr txBox="1"/>
          <p:nvPr/>
        </p:nvSpPr>
        <p:spPr>
          <a:xfrm>
            <a:off x="5816600" y="3962399"/>
            <a:ext cx="5791200" cy="330200"/>
          </a:xfrm>
          <a:prstGeom prst="rect">
            <a:avLst/>
          </a:prstGeom>
          <a:noFill/>
        </p:spPr>
        <p:txBody>
          <a:bodyPr vert="horz" wrap="square" lIns="0" tIns="0" rIns="0" bIns="0" rtlCol="0">
            <a:noAutofit/>
          </a:bodyPr>
          <a:lstStyle/>
          <a:p>
            <a:r>
              <a:rPr lang="en-US" sz="1000">
                <a:solidFill>
                  <a:srgbClr val="A5B4CA"/>
                </a:solidFill>
                <a:latin typeface="Aptos" panose="020B0004020202020204" pitchFamily="34" charset="0"/>
              </a:rPr>
              <a:t>Native graph verified; graph-agent output needs qualification</a:t>
            </a:r>
          </a:p>
        </p:txBody>
      </p:sp>
    </p:spTree>
    <p:extLst>
      <p:ext uri="{BB962C8B-B14F-4D97-AF65-F5344CB8AC3E}">
        <p14:creationId xmlns:p14="http://schemas.microsoft.com/office/powerpoint/2010/main" val="420618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905A5-91D2-D141-6876-89D8433886B2}"/>
              </a:ext>
            </a:extLst>
          </p:cNvPr>
          <p:cNvSpPr/>
          <p:nvPr/>
        </p:nvSpPr>
        <p:spPr>
          <a:xfrm>
            <a:off x="457200" y="381000"/>
            <a:ext cx="304800" cy="38100"/>
          </a:xfrm>
          <a:prstGeom prst="rect">
            <a:avLst/>
          </a:prstGeom>
          <a:solidFill>
            <a:srgbClr val="54D8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79D2C27-C557-F316-BE07-EABE6C730D8F}"/>
              </a:ext>
            </a:extLst>
          </p:cNvPr>
          <p:cNvSpPr txBox="1"/>
          <p:nvPr/>
        </p:nvSpPr>
        <p:spPr>
          <a:xfrm>
            <a:off x="889000" y="292100"/>
            <a:ext cx="8890000" cy="241300"/>
          </a:xfrm>
          <a:prstGeom prst="rect">
            <a:avLst/>
          </a:prstGeom>
          <a:noFill/>
        </p:spPr>
        <p:txBody>
          <a:bodyPr vert="horz" wrap="square" lIns="0" tIns="0" rIns="0" bIns="0" rtlCol="0">
            <a:noAutofit/>
          </a:bodyPr>
          <a:lstStyle/>
          <a:p>
            <a:r>
              <a:rPr lang="en-US" sz="1000" b="1">
                <a:solidFill>
                  <a:srgbClr val="54D8D0"/>
                </a:solidFill>
                <a:latin typeface="Aptos" panose="020B0004020202020204" pitchFamily="34" charset="0"/>
              </a:rPr>
              <a:t>VALUE FOR EXXONMOBIL</a:t>
            </a:r>
          </a:p>
        </p:txBody>
      </p:sp>
      <p:sp>
        <p:nvSpPr>
          <p:cNvPr id="4" name="TextBox 3">
            <a:extLst>
              <a:ext uri="{FF2B5EF4-FFF2-40B4-BE49-F238E27FC236}">
                <a16:creationId xmlns:a16="http://schemas.microsoft.com/office/drawing/2014/main" id="{568C5CB6-5393-0E84-407B-7CD0A1F4A5BD}"/>
              </a:ext>
            </a:extLst>
          </p:cNvPr>
          <p:cNvSpPr txBox="1"/>
          <p:nvPr/>
        </p:nvSpPr>
        <p:spPr>
          <a:xfrm>
            <a:off x="457200" y="825499"/>
            <a:ext cx="11303000" cy="1117600"/>
          </a:xfrm>
          <a:prstGeom prst="rect">
            <a:avLst/>
          </a:prstGeom>
          <a:noFill/>
        </p:spPr>
        <p:txBody>
          <a:bodyPr vert="horz" wrap="square" lIns="0" tIns="0" rIns="0" bIns="0" rtlCol="0">
            <a:noAutofit/>
          </a:bodyPr>
          <a:lstStyle/>
          <a:p>
            <a:r>
              <a:rPr lang="en-US" sz="3100" b="1">
                <a:solidFill>
                  <a:srgbClr val="F2F6FC"/>
                </a:solidFill>
                <a:latin typeface="Aptos" panose="020B0004020202020204" pitchFamily="34" charset="0"/>
              </a:rPr>
              <a:t>Add a connected workflow - not another silo</a:t>
            </a:r>
          </a:p>
        </p:txBody>
      </p:sp>
      <p:sp>
        <p:nvSpPr>
          <p:cNvPr id="5" name="TextBox 4">
            <a:extLst>
              <a:ext uri="{FF2B5EF4-FFF2-40B4-BE49-F238E27FC236}">
                <a16:creationId xmlns:a16="http://schemas.microsoft.com/office/drawing/2014/main" id="{6E95E990-6612-71B4-BC64-DEF7320F60C2}"/>
              </a:ext>
            </a:extLst>
          </p:cNvPr>
          <p:cNvSpPr txBox="1"/>
          <p:nvPr/>
        </p:nvSpPr>
        <p:spPr>
          <a:xfrm>
            <a:off x="457200" y="1968499"/>
            <a:ext cx="11239500" cy="571500"/>
          </a:xfrm>
          <a:prstGeom prst="rect">
            <a:avLst/>
          </a:prstGeom>
          <a:noFill/>
        </p:spPr>
        <p:txBody>
          <a:bodyPr vert="horz" wrap="square" lIns="0" tIns="0" rIns="0" bIns="0" rtlCol="0">
            <a:noAutofit/>
          </a:bodyPr>
          <a:lstStyle/>
          <a:p>
            <a:r>
              <a:rPr lang="en-US" sz="1500">
                <a:solidFill>
                  <a:srgbClr val="A5B4CA"/>
                </a:solidFill>
                <a:latin typeface="Aptos" panose="020B0004020202020204" pitchFamily="34" charset="0"/>
              </a:rPr>
              <a:t>Build on the platforms already in use; test the integration value with evidence.</a:t>
            </a:r>
          </a:p>
        </p:txBody>
      </p:sp>
      <p:sp>
        <p:nvSpPr>
          <p:cNvPr id="6" name="Rectangle 5">
            <a:extLst>
              <a:ext uri="{FF2B5EF4-FFF2-40B4-BE49-F238E27FC236}">
                <a16:creationId xmlns:a16="http://schemas.microsoft.com/office/drawing/2014/main" id="{CF453843-8D29-6BF5-D934-EFDE319BDE38}"/>
              </a:ext>
            </a:extLst>
          </p:cNvPr>
          <p:cNvSpPr/>
          <p:nvPr/>
        </p:nvSpPr>
        <p:spPr>
          <a:xfrm>
            <a:off x="457200" y="6400800"/>
            <a:ext cx="11277600" cy="12700"/>
          </a:xfrm>
          <a:prstGeom prst="rect">
            <a:avLst/>
          </a:prstGeom>
          <a:solidFill>
            <a:srgbClr val="26374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AECEEBE-54CF-266B-209F-EE421C9828CD}"/>
              </a:ext>
            </a:extLst>
          </p:cNvPr>
          <p:cNvSpPr txBox="1"/>
          <p:nvPr/>
        </p:nvSpPr>
        <p:spPr>
          <a:xfrm>
            <a:off x="457200" y="6553200"/>
            <a:ext cx="9398000" cy="165100"/>
          </a:xfrm>
          <a:prstGeom prst="rect">
            <a:avLst/>
          </a:prstGeom>
          <a:noFill/>
        </p:spPr>
        <p:txBody>
          <a:bodyPr vert="horz" wrap="square" lIns="0" tIns="0" rIns="0" bIns="0" rtlCol="0">
            <a:noAutofit/>
          </a:bodyPr>
          <a:lstStyle/>
          <a:p>
            <a:r>
              <a:rPr lang="en-US" sz="800">
                <a:solidFill>
                  <a:srgbClr val="A5B4CA"/>
                </a:solidFill>
                <a:latin typeface="Aptos" panose="020B0004020202020204" pitchFamily="34" charset="0"/>
              </a:rPr>
              <a:t>EXXONMOBIL  /  FABRIC REAL-TIME INTELLIGENCE DEMO</a:t>
            </a:r>
          </a:p>
        </p:txBody>
      </p:sp>
      <p:sp>
        <p:nvSpPr>
          <p:cNvPr id="8" name="TextBox 7">
            <a:extLst>
              <a:ext uri="{FF2B5EF4-FFF2-40B4-BE49-F238E27FC236}">
                <a16:creationId xmlns:a16="http://schemas.microsoft.com/office/drawing/2014/main" id="{CF22DAB0-FA23-4F50-5F44-C84760D27496}"/>
              </a:ext>
            </a:extLst>
          </p:cNvPr>
          <p:cNvSpPr txBox="1"/>
          <p:nvPr/>
        </p:nvSpPr>
        <p:spPr>
          <a:xfrm>
            <a:off x="11303000" y="6515100"/>
            <a:ext cx="431800" cy="215900"/>
          </a:xfrm>
          <a:prstGeom prst="rect">
            <a:avLst/>
          </a:prstGeom>
          <a:noFill/>
        </p:spPr>
        <p:txBody>
          <a:bodyPr vert="horz" wrap="square" lIns="0" tIns="0" rIns="0" bIns="0" rtlCol="0">
            <a:noAutofit/>
          </a:bodyPr>
          <a:lstStyle/>
          <a:p>
            <a:r>
              <a:rPr lang="en-US" sz="1000">
                <a:solidFill>
                  <a:srgbClr val="A5B4CA"/>
                </a:solidFill>
                <a:latin typeface="Aptos" panose="020B0004020202020204" pitchFamily="34" charset="0"/>
              </a:rPr>
              <a:t>04</a:t>
            </a:r>
          </a:p>
        </p:txBody>
      </p:sp>
      <p:sp>
        <p:nvSpPr>
          <p:cNvPr id="9" name="TextBox 8">
            <a:extLst>
              <a:ext uri="{FF2B5EF4-FFF2-40B4-BE49-F238E27FC236}">
                <a16:creationId xmlns:a16="http://schemas.microsoft.com/office/drawing/2014/main" id="{ED03BC69-D534-B834-4239-D44DC9844401}"/>
              </a:ext>
            </a:extLst>
          </p:cNvPr>
          <p:cNvSpPr txBox="1"/>
          <p:nvPr/>
        </p:nvSpPr>
        <p:spPr>
          <a:xfrm>
            <a:off x="609600" y="2730499"/>
            <a:ext cx="3365500" cy="279400"/>
          </a:xfrm>
          <a:prstGeom prst="rect">
            <a:avLst/>
          </a:prstGeom>
          <a:noFill/>
        </p:spPr>
        <p:txBody>
          <a:bodyPr vert="horz" wrap="square" lIns="0" tIns="0" rIns="0" bIns="0" rtlCol="0">
            <a:noAutofit/>
          </a:bodyPr>
          <a:lstStyle/>
          <a:p>
            <a:r>
              <a:rPr lang="en-US" sz="1100" b="1">
                <a:solidFill>
                  <a:srgbClr val="A5B4CA"/>
                </a:solidFill>
                <a:latin typeface="Aptos" panose="020B0004020202020204" pitchFamily="34" charset="0"/>
              </a:rPr>
              <a:t>TODAY: EXISTING STRENGTH</a:t>
            </a:r>
          </a:p>
        </p:txBody>
      </p:sp>
      <p:sp>
        <p:nvSpPr>
          <p:cNvPr id="10" name="TextBox 9">
            <a:extLst>
              <a:ext uri="{FF2B5EF4-FFF2-40B4-BE49-F238E27FC236}">
                <a16:creationId xmlns:a16="http://schemas.microsoft.com/office/drawing/2014/main" id="{A0459612-63B4-0F71-7C1F-1C48749F5ADF}"/>
              </a:ext>
            </a:extLst>
          </p:cNvPr>
          <p:cNvSpPr txBox="1"/>
          <p:nvPr/>
        </p:nvSpPr>
        <p:spPr>
          <a:xfrm>
            <a:off x="4406900" y="2730499"/>
            <a:ext cx="3302000" cy="279400"/>
          </a:xfrm>
          <a:prstGeom prst="rect">
            <a:avLst/>
          </a:prstGeom>
          <a:noFill/>
        </p:spPr>
        <p:txBody>
          <a:bodyPr vert="horz" wrap="square" lIns="0" tIns="0" rIns="0" bIns="0" rtlCol="0">
            <a:noAutofit/>
          </a:bodyPr>
          <a:lstStyle/>
          <a:p>
            <a:r>
              <a:rPr lang="en-US" sz="1100" b="1">
                <a:solidFill>
                  <a:srgbClr val="54D8D0"/>
                </a:solidFill>
                <a:latin typeface="Aptos" panose="020B0004020202020204" pitchFamily="34" charset="0"/>
              </a:rPr>
              <a:t>FABRIC ADDS TO EVALUATE</a:t>
            </a:r>
          </a:p>
        </p:txBody>
      </p:sp>
      <p:sp>
        <p:nvSpPr>
          <p:cNvPr id="11" name="TextBox 10">
            <a:extLst>
              <a:ext uri="{FF2B5EF4-FFF2-40B4-BE49-F238E27FC236}">
                <a16:creationId xmlns:a16="http://schemas.microsoft.com/office/drawing/2014/main" id="{C996429C-F08B-EBCF-49E4-0826429B04C4}"/>
              </a:ext>
            </a:extLst>
          </p:cNvPr>
          <p:cNvSpPr txBox="1"/>
          <p:nvPr/>
        </p:nvSpPr>
        <p:spPr>
          <a:xfrm>
            <a:off x="8153400" y="2730499"/>
            <a:ext cx="3479800" cy="279400"/>
          </a:xfrm>
          <a:prstGeom prst="rect">
            <a:avLst/>
          </a:prstGeom>
          <a:noFill/>
        </p:spPr>
        <p:txBody>
          <a:bodyPr vert="horz" wrap="square" lIns="0" tIns="0" rIns="0" bIns="0" rtlCol="0">
            <a:noAutofit/>
          </a:bodyPr>
          <a:lstStyle/>
          <a:p>
            <a:r>
              <a:rPr lang="en-US" sz="1100" b="1">
                <a:solidFill>
                  <a:srgbClr val="80AEFF"/>
                </a:solidFill>
                <a:latin typeface="Aptos" panose="020B0004020202020204" pitchFamily="34" charset="0"/>
              </a:rPr>
              <a:t>POTENTIAL EXXONMOBIL VALUE</a:t>
            </a:r>
          </a:p>
        </p:txBody>
      </p:sp>
      <p:sp>
        <p:nvSpPr>
          <p:cNvPr id="12" name="Rectangle: Rounded Corners 11">
            <a:extLst>
              <a:ext uri="{FF2B5EF4-FFF2-40B4-BE49-F238E27FC236}">
                <a16:creationId xmlns:a16="http://schemas.microsoft.com/office/drawing/2014/main" id="{2813E926-38FD-334F-5C43-C1AE5F12D735}"/>
              </a:ext>
            </a:extLst>
          </p:cNvPr>
          <p:cNvSpPr/>
          <p:nvPr/>
        </p:nvSpPr>
        <p:spPr>
          <a:xfrm>
            <a:off x="457200" y="3162300"/>
            <a:ext cx="36195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F5D15CD-B371-3D62-D7F9-37115CFD42C5}"/>
              </a:ext>
            </a:extLst>
          </p:cNvPr>
          <p:cNvSpPr txBox="1"/>
          <p:nvPr/>
        </p:nvSpPr>
        <p:spPr>
          <a:xfrm>
            <a:off x="609600" y="3276599"/>
            <a:ext cx="3314700" cy="596900"/>
          </a:xfrm>
          <a:prstGeom prst="rect">
            <a:avLst/>
          </a:prstGeom>
          <a:noFill/>
        </p:spPr>
        <p:txBody>
          <a:bodyPr vert="horz" wrap="square" lIns="0" tIns="0" rIns="0" bIns="0" rtlCol="0">
            <a:noAutofit/>
          </a:bodyPr>
          <a:lstStyle/>
          <a:p>
            <a:r>
              <a:rPr lang="en-US" sz="1400">
                <a:solidFill>
                  <a:srgbClr val="A5B4CA"/>
                </a:solidFill>
                <a:latin typeface="Aptos" panose="020B0004020202020204" pitchFamily="34" charset="0"/>
              </a:rPr>
              <a:t>ADX + historians
Time-series and operational record</a:t>
            </a:r>
          </a:p>
        </p:txBody>
      </p:sp>
      <p:sp>
        <p:nvSpPr>
          <p:cNvPr id="14" name="Rectangle: Rounded Corners 13">
            <a:extLst>
              <a:ext uri="{FF2B5EF4-FFF2-40B4-BE49-F238E27FC236}">
                <a16:creationId xmlns:a16="http://schemas.microsoft.com/office/drawing/2014/main" id="{A9590B3E-4AFE-BBC9-50F3-D0FA2EC2C615}"/>
              </a:ext>
            </a:extLst>
          </p:cNvPr>
          <p:cNvSpPr/>
          <p:nvPr/>
        </p:nvSpPr>
        <p:spPr>
          <a:xfrm>
            <a:off x="4254500" y="3162300"/>
            <a:ext cx="35687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E5F645D-60BB-531F-DDA8-C483F9CCB9A3}"/>
              </a:ext>
            </a:extLst>
          </p:cNvPr>
          <p:cNvSpPr txBox="1"/>
          <p:nvPr/>
        </p:nvSpPr>
        <p:spPr>
          <a:xfrm>
            <a:off x="4406900" y="3276599"/>
            <a:ext cx="3263900" cy="596900"/>
          </a:xfrm>
          <a:prstGeom prst="rect">
            <a:avLst/>
          </a:prstGeom>
          <a:noFill/>
        </p:spPr>
        <p:txBody>
          <a:bodyPr vert="horz" wrap="square" lIns="0" tIns="0" rIns="0" bIns="0" rtlCol="0">
            <a:noAutofit/>
          </a:bodyPr>
          <a:lstStyle/>
          <a:p>
            <a:r>
              <a:rPr lang="en-US" sz="1400">
                <a:solidFill>
                  <a:srgbClr val="A5B4CA"/>
                </a:solidFill>
                <a:latin typeface="Aptos" panose="020B0004020202020204" pitchFamily="34" charset="0"/>
              </a:rPr>
              <a:t>RTI + asset context
Trends, units, freshness and identity</a:t>
            </a:r>
          </a:p>
        </p:txBody>
      </p:sp>
      <p:sp>
        <p:nvSpPr>
          <p:cNvPr id="16" name="Rectangle: Rounded Corners 15">
            <a:extLst>
              <a:ext uri="{FF2B5EF4-FFF2-40B4-BE49-F238E27FC236}">
                <a16:creationId xmlns:a16="http://schemas.microsoft.com/office/drawing/2014/main" id="{3F45F76C-5A72-B01F-A018-8AB1EEC6E6FD}"/>
              </a:ext>
            </a:extLst>
          </p:cNvPr>
          <p:cNvSpPr/>
          <p:nvPr/>
        </p:nvSpPr>
        <p:spPr>
          <a:xfrm>
            <a:off x="8001000" y="3162300"/>
            <a:ext cx="37338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3143C3E-8E76-69C0-2D42-56E687F1065C}"/>
              </a:ext>
            </a:extLst>
          </p:cNvPr>
          <p:cNvSpPr txBox="1"/>
          <p:nvPr/>
        </p:nvSpPr>
        <p:spPr>
          <a:xfrm>
            <a:off x="8153400" y="3276599"/>
            <a:ext cx="3429000" cy="596900"/>
          </a:xfrm>
          <a:prstGeom prst="rect">
            <a:avLst/>
          </a:prstGeom>
          <a:noFill/>
        </p:spPr>
        <p:txBody>
          <a:bodyPr vert="horz" wrap="square" lIns="0" tIns="0" rIns="0" bIns="0" rtlCol="0">
            <a:noAutofit/>
          </a:bodyPr>
          <a:lstStyle/>
          <a:p>
            <a:r>
              <a:rPr lang="en-US" sz="1400">
                <a:solidFill>
                  <a:srgbClr val="F2F6FC"/>
                </a:solidFill>
                <a:latin typeface="Aptos" panose="020B0004020202020204" pitchFamily="34" charset="0"/>
              </a:rPr>
              <a:t>Less time interpreting tags
A shared asset-level view</a:t>
            </a:r>
          </a:p>
        </p:txBody>
      </p:sp>
      <p:sp>
        <p:nvSpPr>
          <p:cNvPr id="18" name="Rectangle: Rounded Corners 17">
            <a:extLst>
              <a:ext uri="{FF2B5EF4-FFF2-40B4-BE49-F238E27FC236}">
                <a16:creationId xmlns:a16="http://schemas.microsoft.com/office/drawing/2014/main" id="{564E74F7-2C53-5621-3A8B-A410D51FFCDC}"/>
              </a:ext>
            </a:extLst>
          </p:cNvPr>
          <p:cNvSpPr/>
          <p:nvPr/>
        </p:nvSpPr>
        <p:spPr>
          <a:xfrm>
            <a:off x="457200" y="4051300"/>
            <a:ext cx="36195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EC95C1C-D308-5092-94A3-F43658021D2C}"/>
              </a:ext>
            </a:extLst>
          </p:cNvPr>
          <p:cNvSpPr txBox="1"/>
          <p:nvPr/>
        </p:nvSpPr>
        <p:spPr>
          <a:xfrm>
            <a:off x="609600" y="4165599"/>
            <a:ext cx="3314700" cy="596900"/>
          </a:xfrm>
          <a:prstGeom prst="rect">
            <a:avLst/>
          </a:prstGeom>
          <a:noFill/>
        </p:spPr>
        <p:txBody>
          <a:bodyPr vert="horz" wrap="square" lIns="0" tIns="0" rIns="0" bIns="0" rtlCol="0">
            <a:noAutofit/>
          </a:bodyPr>
          <a:lstStyle/>
          <a:p>
            <a:r>
              <a:rPr lang="en-US" sz="1400">
                <a:solidFill>
                  <a:srgbClr val="A5B4CA"/>
                </a:solidFill>
                <a:latin typeface="Aptos" panose="020B0004020202020204" pitchFamily="34" charset="0"/>
              </a:rPr>
              <a:t>Databricks + Snowflake
Engineering and enterprise analytics</a:t>
            </a:r>
          </a:p>
        </p:txBody>
      </p:sp>
      <p:sp>
        <p:nvSpPr>
          <p:cNvPr id="20" name="Rectangle: Rounded Corners 19">
            <a:extLst>
              <a:ext uri="{FF2B5EF4-FFF2-40B4-BE49-F238E27FC236}">
                <a16:creationId xmlns:a16="http://schemas.microsoft.com/office/drawing/2014/main" id="{9D2A2D9B-D6C7-5DF5-3F04-32CE1445C482}"/>
              </a:ext>
            </a:extLst>
          </p:cNvPr>
          <p:cNvSpPr/>
          <p:nvPr/>
        </p:nvSpPr>
        <p:spPr>
          <a:xfrm>
            <a:off x="4254500" y="4051300"/>
            <a:ext cx="35687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BF5B4E4-4CDB-A3DA-1B8D-5A2CA0D95522}"/>
              </a:ext>
            </a:extLst>
          </p:cNvPr>
          <p:cNvSpPr txBox="1"/>
          <p:nvPr/>
        </p:nvSpPr>
        <p:spPr>
          <a:xfrm>
            <a:off x="4406900" y="4165599"/>
            <a:ext cx="3263900" cy="596900"/>
          </a:xfrm>
          <a:prstGeom prst="rect">
            <a:avLst/>
          </a:prstGeom>
          <a:noFill/>
        </p:spPr>
        <p:txBody>
          <a:bodyPr vert="horz" wrap="square" lIns="0" tIns="0" rIns="0" bIns="0" rtlCol="0">
            <a:noAutofit/>
          </a:bodyPr>
          <a:lstStyle/>
          <a:p>
            <a:r>
              <a:rPr lang="en-US" sz="1400">
                <a:solidFill>
                  <a:srgbClr val="A5B4CA"/>
                </a:solidFill>
                <a:latin typeface="Aptos" panose="020B0004020202020204" pitchFamily="34" charset="0"/>
              </a:rPr>
              <a:t>OneLake reuse
Connect operational and analytical data</a:t>
            </a:r>
          </a:p>
        </p:txBody>
      </p:sp>
      <p:sp>
        <p:nvSpPr>
          <p:cNvPr id="22" name="Rectangle: Rounded Corners 21">
            <a:extLst>
              <a:ext uri="{FF2B5EF4-FFF2-40B4-BE49-F238E27FC236}">
                <a16:creationId xmlns:a16="http://schemas.microsoft.com/office/drawing/2014/main" id="{AC197497-5232-B3AC-3AB9-52C4DD70905D}"/>
              </a:ext>
            </a:extLst>
          </p:cNvPr>
          <p:cNvSpPr/>
          <p:nvPr/>
        </p:nvSpPr>
        <p:spPr>
          <a:xfrm>
            <a:off x="8001000" y="4051300"/>
            <a:ext cx="37338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E62DD4F-01DD-28C6-75C0-B2ADD9AA49CC}"/>
              </a:ext>
            </a:extLst>
          </p:cNvPr>
          <p:cNvSpPr txBox="1"/>
          <p:nvPr/>
        </p:nvSpPr>
        <p:spPr>
          <a:xfrm>
            <a:off x="8153400" y="4165599"/>
            <a:ext cx="3429000" cy="596900"/>
          </a:xfrm>
          <a:prstGeom prst="rect">
            <a:avLst/>
          </a:prstGeom>
          <a:noFill/>
        </p:spPr>
        <p:txBody>
          <a:bodyPr vert="horz" wrap="square" lIns="0" tIns="0" rIns="0" bIns="0" rtlCol="0">
            <a:noAutofit/>
          </a:bodyPr>
          <a:lstStyle/>
          <a:p>
            <a:r>
              <a:rPr lang="en-US" sz="1400">
                <a:solidFill>
                  <a:srgbClr val="F2F6FC"/>
                </a:solidFill>
                <a:latin typeface="Aptos" panose="020B0004020202020204" pitchFamily="34" charset="0"/>
              </a:rPr>
              <a:t>Less duplicated integration work
Subject to route and access design</a:t>
            </a:r>
          </a:p>
        </p:txBody>
      </p:sp>
      <p:sp>
        <p:nvSpPr>
          <p:cNvPr id="24" name="Rectangle: Rounded Corners 23">
            <a:extLst>
              <a:ext uri="{FF2B5EF4-FFF2-40B4-BE49-F238E27FC236}">
                <a16:creationId xmlns:a16="http://schemas.microsoft.com/office/drawing/2014/main" id="{0C643517-EF72-E989-1AB4-65E56CDC85CE}"/>
              </a:ext>
            </a:extLst>
          </p:cNvPr>
          <p:cNvSpPr/>
          <p:nvPr/>
        </p:nvSpPr>
        <p:spPr>
          <a:xfrm>
            <a:off x="457200" y="4940300"/>
            <a:ext cx="36195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F764A20-BF73-D3E5-3B31-757DE526744E}"/>
              </a:ext>
            </a:extLst>
          </p:cNvPr>
          <p:cNvSpPr txBox="1"/>
          <p:nvPr/>
        </p:nvSpPr>
        <p:spPr>
          <a:xfrm>
            <a:off x="609600" y="5054599"/>
            <a:ext cx="3314700" cy="596900"/>
          </a:xfrm>
          <a:prstGeom prst="rect">
            <a:avLst/>
          </a:prstGeom>
          <a:noFill/>
        </p:spPr>
        <p:txBody>
          <a:bodyPr vert="horz" wrap="square" lIns="0" tIns="0" rIns="0" bIns="0" rtlCol="0">
            <a:noAutofit/>
          </a:bodyPr>
          <a:lstStyle/>
          <a:p>
            <a:r>
              <a:rPr lang="en-US" sz="1400">
                <a:solidFill>
                  <a:srgbClr val="A5B4CA"/>
                </a:solidFill>
                <a:latin typeface="Aptos" panose="020B0004020202020204" pitchFamily="34" charset="0"/>
              </a:rPr>
              <a:t>Kafka + specialist tools
Event delivery and expert workflows</a:t>
            </a:r>
          </a:p>
        </p:txBody>
      </p:sp>
      <p:sp>
        <p:nvSpPr>
          <p:cNvPr id="26" name="Rectangle: Rounded Corners 25">
            <a:extLst>
              <a:ext uri="{FF2B5EF4-FFF2-40B4-BE49-F238E27FC236}">
                <a16:creationId xmlns:a16="http://schemas.microsoft.com/office/drawing/2014/main" id="{384EB250-6CE5-FC9B-CD05-001D9313FEFC}"/>
              </a:ext>
            </a:extLst>
          </p:cNvPr>
          <p:cNvSpPr/>
          <p:nvPr/>
        </p:nvSpPr>
        <p:spPr>
          <a:xfrm>
            <a:off x="4254500" y="4940300"/>
            <a:ext cx="35687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8240128-102A-F2F5-D277-9AC9A5D77964}"/>
              </a:ext>
            </a:extLst>
          </p:cNvPr>
          <p:cNvSpPr txBox="1"/>
          <p:nvPr/>
        </p:nvSpPr>
        <p:spPr>
          <a:xfrm>
            <a:off x="4406900" y="5054599"/>
            <a:ext cx="3263900" cy="596900"/>
          </a:xfrm>
          <a:prstGeom prst="rect">
            <a:avLst/>
          </a:prstGeom>
          <a:noFill/>
        </p:spPr>
        <p:txBody>
          <a:bodyPr vert="horz" wrap="square" lIns="0" tIns="0" rIns="0" bIns="0" rtlCol="0">
            <a:noAutofit/>
          </a:bodyPr>
          <a:lstStyle/>
          <a:p>
            <a:r>
              <a:rPr lang="en-US" sz="1400">
                <a:solidFill>
                  <a:srgbClr val="A5B4CA"/>
                </a:solidFill>
                <a:latin typeface="Aptos" panose="020B0004020202020204" pitchFamily="34" charset="0"/>
              </a:rPr>
              <a:t>Grounded Q&amp;A + action path
Curated answers; approved next steps</a:t>
            </a:r>
          </a:p>
        </p:txBody>
      </p:sp>
      <p:sp>
        <p:nvSpPr>
          <p:cNvPr id="28" name="Rectangle: Rounded Corners 27">
            <a:extLst>
              <a:ext uri="{FF2B5EF4-FFF2-40B4-BE49-F238E27FC236}">
                <a16:creationId xmlns:a16="http://schemas.microsoft.com/office/drawing/2014/main" id="{BB995D93-EF41-734C-63D7-94B6A46EB3D6}"/>
              </a:ext>
            </a:extLst>
          </p:cNvPr>
          <p:cNvSpPr/>
          <p:nvPr/>
        </p:nvSpPr>
        <p:spPr>
          <a:xfrm>
            <a:off x="8001000" y="4940300"/>
            <a:ext cx="3733800" cy="7874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CA1F188-78A3-C530-8698-0A50159D4A77}"/>
              </a:ext>
            </a:extLst>
          </p:cNvPr>
          <p:cNvSpPr txBox="1"/>
          <p:nvPr/>
        </p:nvSpPr>
        <p:spPr>
          <a:xfrm>
            <a:off x="8153400" y="5054599"/>
            <a:ext cx="3429000" cy="596900"/>
          </a:xfrm>
          <a:prstGeom prst="rect">
            <a:avLst/>
          </a:prstGeom>
          <a:noFill/>
        </p:spPr>
        <p:txBody>
          <a:bodyPr vert="horz" wrap="square" lIns="0" tIns="0" rIns="0" bIns="0" rtlCol="0">
            <a:noAutofit/>
          </a:bodyPr>
          <a:lstStyle/>
          <a:p>
            <a:r>
              <a:rPr lang="en-US" sz="1400">
                <a:solidFill>
                  <a:srgbClr val="F2F6FC"/>
                </a:solidFill>
                <a:latin typeface="Aptos" panose="020B0004020202020204" pitchFamily="34" charset="0"/>
              </a:rPr>
              <a:t>Broader operational access
With evidence and human oversight</a:t>
            </a:r>
          </a:p>
        </p:txBody>
      </p:sp>
      <p:sp>
        <p:nvSpPr>
          <p:cNvPr id="30" name="TextBox 29">
            <a:extLst>
              <a:ext uri="{FF2B5EF4-FFF2-40B4-BE49-F238E27FC236}">
                <a16:creationId xmlns:a16="http://schemas.microsoft.com/office/drawing/2014/main" id="{67B62CD3-1F2F-D04C-6378-EDB89D358FA2}"/>
              </a:ext>
            </a:extLst>
          </p:cNvPr>
          <p:cNvSpPr txBox="1"/>
          <p:nvPr/>
        </p:nvSpPr>
        <p:spPr>
          <a:xfrm>
            <a:off x="482600" y="5956300"/>
            <a:ext cx="11176000" cy="241300"/>
          </a:xfrm>
          <a:prstGeom prst="rect">
            <a:avLst/>
          </a:prstGeom>
          <a:noFill/>
        </p:spPr>
        <p:txBody>
          <a:bodyPr vert="horz" wrap="square" lIns="0" tIns="0" rIns="0" bIns="0" rtlCol="0">
            <a:noAutofit/>
          </a:bodyPr>
          <a:lstStyle/>
          <a:p>
            <a:r>
              <a:rPr lang="en-US" sz="1200" b="1">
                <a:solidFill>
                  <a:srgbClr val="54D8D0"/>
                </a:solidFill>
                <a:latin typeface="Aptos" panose="020B0004020202020204" pitchFamily="34" charset="0"/>
              </a:rPr>
              <a:t>Success measure: faster, explainable answers with acceptable access controls, latency and cost.</a:t>
            </a:r>
          </a:p>
        </p:txBody>
      </p:sp>
    </p:spTree>
    <p:extLst>
      <p:ext uri="{BB962C8B-B14F-4D97-AF65-F5344CB8AC3E}">
        <p14:creationId xmlns:p14="http://schemas.microsoft.com/office/powerpoint/2010/main" val="1582976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4B2152-9AA9-7938-884A-731FE0D8EEC8}"/>
              </a:ext>
            </a:extLst>
          </p:cNvPr>
          <p:cNvSpPr/>
          <p:nvPr/>
        </p:nvSpPr>
        <p:spPr>
          <a:xfrm>
            <a:off x="457200" y="381000"/>
            <a:ext cx="304800" cy="38100"/>
          </a:xfrm>
          <a:prstGeom prst="rect">
            <a:avLst/>
          </a:prstGeom>
          <a:solidFill>
            <a:srgbClr val="54D8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ECA1763-96C6-2A98-69B2-CEE96D536E44}"/>
              </a:ext>
            </a:extLst>
          </p:cNvPr>
          <p:cNvSpPr txBox="1"/>
          <p:nvPr/>
        </p:nvSpPr>
        <p:spPr>
          <a:xfrm>
            <a:off x="889000" y="292100"/>
            <a:ext cx="8890000" cy="241300"/>
          </a:xfrm>
          <a:prstGeom prst="rect">
            <a:avLst/>
          </a:prstGeom>
          <a:noFill/>
        </p:spPr>
        <p:txBody>
          <a:bodyPr vert="horz" wrap="square" lIns="0" tIns="0" rIns="0" bIns="0" rtlCol="0">
            <a:noAutofit/>
          </a:bodyPr>
          <a:lstStyle/>
          <a:p>
            <a:r>
              <a:rPr lang="en-US" sz="1000" b="1">
                <a:solidFill>
                  <a:srgbClr val="54D8D0"/>
                </a:solidFill>
                <a:latin typeface="Aptos" panose="020B0004020202020204" pitchFamily="34" charset="0"/>
              </a:rPr>
              <a:t>PROOF AND NEXT DECISION</a:t>
            </a:r>
          </a:p>
        </p:txBody>
      </p:sp>
      <p:sp>
        <p:nvSpPr>
          <p:cNvPr id="4" name="TextBox 3">
            <a:extLst>
              <a:ext uri="{FF2B5EF4-FFF2-40B4-BE49-F238E27FC236}">
                <a16:creationId xmlns:a16="http://schemas.microsoft.com/office/drawing/2014/main" id="{5804149F-1FFE-8FEC-835E-3F715145A9DA}"/>
              </a:ext>
            </a:extLst>
          </p:cNvPr>
          <p:cNvSpPr txBox="1"/>
          <p:nvPr/>
        </p:nvSpPr>
        <p:spPr>
          <a:xfrm>
            <a:off x="457200" y="825499"/>
            <a:ext cx="11303000" cy="1117600"/>
          </a:xfrm>
          <a:prstGeom prst="rect">
            <a:avLst/>
          </a:prstGeom>
          <a:noFill/>
        </p:spPr>
        <p:txBody>
          <a:bodyPr vert="horz" wrap="square" lIns="0" tIns="0" rIns="0" bIns="0" rtlCol="0">
            <a:noAutofit/>
          </a:bodyPr>
          <a:lstStyle/>
          <a:p>
            <a:r>
              <a:rPr lang="en-US" sz="3100" b="1">
                <a:solidFill>
                  <a:srgbClr val="F2F6FC"/>
                </a:solidFill>
                <a:latin typeface="Aptos" panose="020B0004020202020204" pitchFamily="34" charset="0"/>
              </a:rPr>
              <a:t>A credible demo. A focused next step.</a:t>
            </a:r>
          </a:p>
        </p:txBody>
      </p:sp>
      <p:sp>
        <p:nvSpPr>
          <p:cNvPr id="5" name="TextBox 4">
            <a:extLst>
              <a:ext uri="{FF2B5EF4-FFF2-40B4-BE49-F238E27FC236}">
                <a16:creationId xmlns:a16="http://schemas.microsoft.com/office/drawing/2014/main" id="{6B861D60-BF33-61FF-D2CF-18D9F59F85A7}"/>
              </a:ext>
            </a:extLst>
          </p:cNvPr>
          <p:cNvSpPr txBox="1"/>
          <p:nvPr/>
        </p:nvSpPr>
        <p:spPr>
          <a:xfrm>
            <a:off x="457200" y="1968499"/>
            <a:ext cx="11239500" cy="571500"/>
          </a:xfrm>
          <a:prstGeom prst="rect">
            <a:avLst/>
          </a:prstGeom>
          <a:noFill/>
        </p:spPr>
        <p:txBody>
          <a:bodyPr vert="horz" wrap="square" lIns="0" tIns="0" rIns="0" bIns="0" rtlCol="0">
            <a:noAutofit/>
          </a:bodyPr>
          <a:lstStyle/>
          <a:p>
            <a:r>
              <a:rPr lang="en-US" sz="1500">
                <a:solidFill>
                  <a:srgbClr val="A5B4CA"/>
                </a:solidFill>
                <a:latin typeface="Aptos" panose="020B0004020202020204" pitchFamily="34" charset="0"/>
              </a:rPr>
              <a:t>Show the verified analytical story; qualify the production path separately.</a:t>
            </a:r>
          </a:p>
        </p:txBody>
      </p:sp>
      <p:sp>
        <p:nvSpPr>
          <p:cNvPr id="6" name="Rectangle 5">
            <a:extLst>
              <a:ext uri="{FF2B5EF4-FFF2-40B4-BE49-F238E27FC236}">
                <a16:creationId xmlns:a16="http://schemas.microsoft.com/office/drawing/2014/main" id="{243E025C-B8BA-ABBE-955F-1CBDA4B4EAFA}"/>
              </a:ext>
            </a:extLst>
          </p:cNvPr>
          <p:cNvSpPr/>
          <p:nvPr/>
        </p:nvSpPr>
        <p:spPr>
          <a:xfrm>
            <a:off x="457200" y="6400800"/>
            <a:ext cx="11277600" cy="12700"/>
          </a:xfrm>
          <a:prstGeom prst="rect">
            <a:avLst/>
          </a:prstGeom>
          <a:solidFill>
            <a:srgbClr val="26374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A02628D-00CE-14B4-171B-1C6F945E155D}"/>
              </a:ext>
            </a:extLst>
          </p:cNvPr>
          <p:cNvSpPr txBox="1"/>
          <p:nvPr/>
        </p:nvSpPr>
        <p:spPr>
          <a:xfrm>
            <a:off x="457200" y="6553200"/>
            <a:ext cx="9398000" cy="165100"/>
          </a:xfrm>
          <a:prstGeom prst="rect">
            <a:avLst/>
          </a:prstGeom>
          <a:noFill/>
        </p:spPr>
        <p:txBody>
          <a:bodyPr vert="horz" wrap="square" lIns="0" tIns="0" rIns="0" bIns="0" rtlCol="0">
            <a:noAutofit/>
          </a:bodyPr>
          <a:lstStyle/>
          <a:p>
            <a:r>
              <a:rPr lang="en-US" sz="800">
                <a:solidFill>
                  <a:srgbClr val="A5B4CA"/>
                </a:solidFill>
                <a:latin typeface="Aptos" panose="020B0004020202020204" pitchFamily="34" charset="0"/>
              </a:rPr>
              <a:t>EXXONMOBIL  /  FABRIC REAL-TIME INTELLIGENCE DEMO</a:t>
            </a:r>
          </a:p>
        </p:txBody>
      </p:sp>
      <p:sp>
        <p:nvSpPr>
          <p:cNvPr id="8" name="TextBox 7">
            <a:extLst>
              <a:ext uri="{FF2B5EF4-FFF2-40B4-BE49-F238E27FC236}">
                <a16:creationId xmlns:a16="http://schemas.microsoft.com/office/drawing/2014/main" id="{4482D715-7832-97E3-4135-09501C3D97A9}"/>
              </a:ext>
            </a:extLst>
          </p:cNvPr>
          <p:cNvSpPr txBox="1"/>
          <p:nvPr/>
        </p:nvSpPr>
        <p:spPr>
          <a:xfrm>
            <a:off x="11303000" y="6515100"/>
            <a:ext cx="431800" cy="215900"/>
          </a:xfrm>
          <a:prstGeom prst="rect">
            <a:avLst/>
          </a:prstGeom>
          <a:noFill/>
        </p:spPr>
        <p:txBody>
          <a:bodyPr vert="horz" wrap="square" lIns="0" tIns="0" rIns="0" bIns="0" rtlCol="0">
            <a:noAutofit/>
          </a:bodyPr>
          <a:lstStyle/>
          <a:p>
            <a:r>
              <a:rPr lang="en-US" sz="1000">
                <a:solidFill>
                  <a:srgbClr val="A5B4CA"/>
                </a:solidFill>
                <a:latin typeface="Aptos" panose="020B0004020202020204" pitchFamily="34" charset="0"/>
              </a:rPr>
              <a:t>05</a:t>
            </a:r>
          </a:p>
        </p:txBody>
      </p:sp>
      <p:sp>
        <p:nvSpPr>
          <p:cNvPr id="9" name="Rectangle: Rounded Corners 8">
            <a:extLst>
              <a:ext uri="{FF2B5EF4-FFF2-40B4-BE49-F238E27FC236}">
                <a16:creationId xmlns:a16="http://schemas.microsoft.com/office/drawing/2014/main" id="{7F90725D-E247-ECB5-B745-865729FCE0F6}"/>
              </a:ext>
            </a:extLst>
          </p:cNvPr>
          <p:cNvSpPr/>
          <p:nvPr/>
        </p:nvSpPr>
        <p:spPr>
          <a:xfrm>
            <a:off x="457200" y="2755900"/>
            <a:ext cx="3581400" cy="12065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9009484-256E-1B48-8852-FE17E1D67329}"/>
              </a:ext>
            </a:extLst>
          </p:cNvPr>
          <p:cNvSpPr txBox="1"/>
          <p:nvPr/>
        </p:nvSpPr>
        <p:spPr>
          <a:xfrm>
            <a:off x="673100" y="2908299"/>
            <a:ext cx="3149600" cy="533400"/>
          </a:xfrm>
          <a:prstGeom prst="rect">
            <a:avLst/>
          </a:prstGeom>
          <a:noFill/>
        </p:spPr>
        <p:txBody>
          <a:bodyPr vert="horz" wrap="square" lIns="0" tIns="0" rIns="0" bIns="0" rtlCol="0">
            <a:noAutofit/>
          </a:bodyPr>
          <a:lstStyle/>
          <a:p>
            <a:r>
              <a:rPr lang="en-US" sz="3100" b="1">
                <a:solidFill>
                  <a:srgbClr val="54D8D0"/>
                </a:solidFill>
                <a:latin typeface="Aptos" panose="020B0004020202020204" pitchFamily="34" charset="0"/>
              </a:rPr>
              <a:t>108,000</a:t>
            </a:r>
          </a:p>
        </p:txBody>
      </p:sp>
      <p:sp>
        <p:nvSpPr>
          <p:cNvPr id="11" name="TextBox 10">
            <a:extLst>
              <a:ext uri="{FF2B5EF4-FFF2-40B4-BE49-F238E27FC236}">
                <a16:creationId xmlns:a16="http://schemas.microsoft.com/office/drawing/2014/main" id="{46666A4D-7B17-CD78-E34A-BC882C7FF850}"/>
              </a:ext>
            </a:extLst>
          </p:cNvPr>
          <p:cNvSpPr txBox="1"/>
          <p:nvPr/>
        </p:nvSpPr>
        <p:spPr>
          <a:xfrm>
            <a:off x="673100" y="3530600"/>
            <a:ext cx="3149600" cy="254000"/>
          </a:xfrm>
          <a:prstGeom prst="rect">
            <a:avLst/>
          </a:prstGeom>
          <a:noFill/>
        </p:spPr>
        <p:txBody>
          <a:bodyPr vert="horz" wrap="square" lIns="0" tIns="0" rIns="0" bIns="0" rtlCol="0">
            <a:noAutofit/>
          </a:bodyPr>
          <a:lstStyle/>
          <a:p>
            <a:r>
              <a:rPr lang="en-US" sz="1300">
                <a:solidFill>
                  <a:srgbClr val="A5B4CA"/>
                </a:solidFill>
                <a:latin typeface="Aptos" panose="020B0004020202020204" pitchFamily="34" charset="0"/>
              </a:rPr>
              <a:t>new synthetic rows</a:t>
            </a:r>
          </a:p>
        </p:txBody>
      </p:sp>
      <p:sp>
        <p:nvSpPr>
          <p:cNvPr id="12" name="Rectangle: Rounded Corners 11">
            <a:extLst>
              <a:ext uri="{FF2B5EF4-FFF2-40B4-BE49-F238E27FC236}">
                <a16:creationId xmlns:a16="http://schemas.microsoft.com/office/drawing/2014/main" id="{066CEF08-DB71-E206-F4B8-4BC6B4092BC6}"/>
              </a:ext>
            </a:extLst>
          </p:cNvPr>
          <p:cNvSpPr/>
          <p:nvPr/>
        </p:nvSpPr>
        <p:spPr>
          <a:xfrm>
            <a:off x="4267200" y="2755900"/>
            <a:ext cx="3581400" cy="12065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E62AE72-7A39-D69D-C702-5B3E12F5540F}"/>
              </a:ext>
            </a:extLst>
          </p:cNvPr>
          <p:cNvSpPr txBox="1"/>
          <p:nvPr/>
        </p:nvSpPr>
        <p:spPr>
          <a:xfrm>
            <a:off x="4483100" y="2908299"/>
            <a:ext cx="3149600" cy="533400"/>
          </a:xfrm>
          <a:prstGeom prst="rect">
            <a:avLst/>
          </a:prstGeom>
          <a:noFill/>
        </p:spPr>
        <p:txBody>
          <a:bodyPr vert="horz" wrap="square" lIns="0" tIns="0" rIns="0" bIns="0" rtlCol="0">
            <a:noAutofit/>
          </a:bodyPr>
          <a:lstStyle/>
          <a:p>
            <a:r>
              <a:rPr lang="en-US" sz="3100" b="1">
                <a:solidFill>
                  <a:srgbClr val="54D8D0"/>
                </a:solidFill>
                <a:latin typeface="Aptos" panose="020B0004020202020204" pitchFamily="34" charset="0"/>
              </a:rPr>
              <a:t>3 hours</a:t>
            </a:r>
          </a:p>
        </p:txBody>
      </p:sp>
      <p:sp>
        <p:nvSpPr>
          <p:cNvPr id="14" name="TextBox 13">
            <a:extLst>
              <a:ext uri="{FF2B5EF4-FFF2-40B4-BE49-F238E27FC236}">
                <a16:creationId xmlns:a16="http://schemas.microsoft.com/office/drawing/2014/main" id="{C1CB1BE7-D247-FC06-CE1B-9900D3AA8432}"/>
              </a:ext>
            </a:extLst>
          </p:cNvPr>
          <p:cNvSpPr txBox="1"/>
          <p:nvPr/>
        </p:nvSpPr>
        <p:spPr>
          <a:xfrm>
            <a:off x="4483100" y="3530600"/>
            <a:ext cx="3149600" cy="254000"/>
          </a:xfrm>
          <a:prstGeom prst="rect">
            <a:avLst/>
          </a:prstGeom>
          <a:noFill/>
        </p:spPr>
        <p:txBody>
          <a:bodyPr vert="horz" wrap="square" lIns="0" tIns="0" rIns="0" bIns="0" rtlCol="0">
            <a:noAutofit/>
          </a:bodyPr>
          <a:lstStyle/>
          <a:p>
            <a:r>
              <a:rPr lang="en-US" sz="1300">
                <a:solidFill>
                  <a:srgbClr val="A5B4CA"/>
                </a:solidFill>
                <a:latin typeface="Aptos" panose="020B0004020202020204" pitchFamily="34" charset="0"/>
              </a:rPr>
              <a:t>verified ingestion run</a:t>
            </a:r>
          </a:p>
        </p:txBody>
      </p:sp>
      <p:sp>
        <p:nvSpPr>
          <p:cNvPr id="15" name="Rectangle: Rounded Corners 14">
            <a:extLst>
              <a:ext uri="{FF2B5EF4-FFF2-40B4-BE49-F238E27FC236}">
                <a16:creationId xmlns:a16="http://schemas.microsoft.com/office/drawing/2014/main" id="{5567C526-190C-7CED-E35E-0D07E6D3C80A}"/>
              </a:ext>
            </a:extLst>
          </p:cNvPr>
          <p:cNvSpPr/>
          <p:nvPr/>
        </p:nvSpPr>
        <p:spPr>
          <a:xfrm>
            <a:off x="8077200" y="2755900"/>
            <a:ext cx="3581400" cy="1206500"/>
          </a:xfrm>
          <a:prstGeom prst="roundRect">
            <a:avLst/>
          </a:prstGeom>
          <a:solidFill>
            <a:srgbClr val="131F32"/>
          </a:solidFill>
          <a:ln w="10160">
            <a:solidFill>
              <a:srgbClr val="263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B0F5AA8-CF23-B7F7-61C8-AE726BE8C4D6}"/>
              </a:ext>
            </a:extLst>
          </p:cNvPr>
          <p:cNvSpPr txBox="1"/>
          <p:nvPr/>
        </p:nvSpPr>
        <p:spPr>
          <a:xfrm>
            <a:off x="8293100" y="2908299"/>
            <a:ext cx="3149600" cy="533400"/>
          </a:xfrm>
          <a:prstGeom prst="rect">
            <a:avLst/>
          </a:prstGeom>
          <a:noFill/>
        </p:spPr>
        <p:txBody>
          <a:bodyPr vert="horz" wrap="square" lIns="0" tIns="0" rIns="0" bIns="0" rtlCol="0">
            <a:noAutofit/>
          </a:bodyPr>
          <a:lstStyle/>
          <a:p>
            <a:r>
              <a:rPr lang="en-US" sz="3100" b="1">
                <a:solidFill>
                  <a:srgbClr val="54D8D0"/>
                </a:solidFill>
                <a:latin typeface="Aptos" panose="020B0004020202020204" pitchFamily="34" charset="0"/>
              </a:rPr>
              <a:t>5</a:t>
            </a:r>
          </a:p>
        </p:txBody>
      </p:sp>
      <p:sp>
        <p:nvSpPr>
          <p:cNvPr id="17" name="TextBox 16">
            <a:extLst>
              <a:ext uri="{FF2B5EF4-FFF2-40B4-BE49-F238E27FC236}">
                <a16:creationId xmlns:a16="http://schemas.microsoft.com/office/drawing/2014/main" id="{00CB33F0-68E2-3269-D67D-D40AC87BFAD2}"/>
              </a:ext>
            </a:extLst>
          </p:cNvPr>
          <p:cNvSpPr txBox="1"/>
          <p:nvPr/>
        </p:nvSpPr>
        <p:spPr>
          <a:xfrm>
            <a:off x="8293100" y="3530600"/>
            <a:ext cx="3149600" cy="254000"/>
          </a:xfrm>
          <a:prstGeom prst="rect">
            <a:avLst/>
          </a:prstGeom>
          <a:noFill/>
        </p:spPr>
        <p:txBody>
          <a:bodyPr vert="horz" wrap="square" lIns="0" tIns="0" rIns="0" bIns="0" rtlCol="0">
            <a:noAutofit/>
          </a:bodyPr>
          <a:lstStyle/>
          <a:p>
            <a:r>
              <a:rPr lang="en-US" sz="1300">
                <a:solidFill>
                  <a:srgbClr val="A5B4CA"/>
                </a:solidFill>
                <a:latin typeface="Aptos" panose="020B0004020202020204" pitchFamily="34" charset="0"/>
              </a:rPr>
              <a:t>operational agent cases</a:t>
            </a:r>
          </a:p>
        </p:txBody>
      </p:sp>
      <p:sp>
        <p:nvSpPr>
          <p:cNvPr id="18" name="TextBox 17">
            <a:extLst>
              <a:ext uri="{FF2B5EF4-FFF2-40B4-BE49-F238E27FC236}">
                <a16:creationId xmlns:a16="http://schemas.microsoft.com/office/drawing/2014/main" id="{FF74732F-7D4F-EB44-476D-291F6D4ED8E3}"/>
              </a:ext>
            </a:extLst>
          </p:cNvPr>
          <p:cNvSpPr txBox="1"/>
          <p:nvPr/>
        </p:nvSpPr>
        <p:spPr>
          <a:xfrm>
            <a:off x="482600" y="4267200"/>
            <a:ext cx="5334000" cy="254000"/>
          </a:xfrm>
          <a:prstGeom prst="rect">
            <a:avLst/>
          </a:prstGeom>
          <a:noFill/>
        </p:spPr>
        <p:txBody>
          <a:bodyPr vert="horz" wrap="square" lIns="0" tIns="0" rIns="0" bIns="0" rtlCol="0">
            <a:noAutofit/>
          </a:bodyPr>
          <a:lstStyle/>
          <a:p>
            <a:r>
              <a:rPr lang="en-US" sz="1100" b="1">
                <a:solidFill>
                  <a:srgbClr val="54D8D0"/>
                </a:solidFill>
                <a:latin typeface="Aptos" panose="020B0004020202020204" pitchFamily="34" charset="0"/>
              </a:rPr>
              <a:t>PROVEN TODAY</a:t>
            </a:r>
          </a:p>
        </p:txBody>
      </p:sp>
      <p:sp>
        <p:nvSpPr>
          <p:cNvPr id="19" name="TextBox 18">
            <a:extLst>
              <a:ext uri="{FF2B5EF4-FFF2-40B4-BE49-F238E27FC236}">
                <a16:creationId xmlns:a16="http://schemas.microsoft.com/office/drawing/2014/main" id="{B49D6527-6EC1-EB19-9A89-C29A3CA4CBAB}"/>
              </a:ext>
            </a:extLst>
          </p:cNvPr>
          <p:cNvSpPr txBox="1"/>
          <p:nvPr/>
        </p:nvSpPr>
        <p:spPr>
          <a:xfrm>
            <a:off x="482600" y="4635499"/>
            <a:ext cx="5334000" cy="825500"/>
          </a:xfrm>
          <a:prstGeom prst="rect">
            <a:avLst/>
          </a:prstGeom>
          <a:noFill/>
        </p:spPr>
        <p:txBody>
          <a:bodyPr vert="horz" wrap="square" lIns="0" tIns="0" rIns="0" bIns="0" rtlCol="0">
            <a:noAutofit/>
          </a:bodyPr>
          <a:lstStyle/>
          <a:p>
            <a:r>
              <a:rPr lang="en-US">
                <a:solidFill>
                  <a:srgbClr val="F2F6FC"/>
                </a:solidFill>
                <a:latin typeface="Aptos" panose="020B0004020202020204" pitchFamily="34" charset="0"/>
              </a:rPr>
              <a:t>Raw + typed data, quality checks and trends
Native asset traversal + curated KQL answers</a:t>
            </a:r>
          </a:p>
        </p:txBody>
      </p:sp>
      <p:sp>
        <p:nvSpPr>
          <p:cNvPr id="20" name="TextBox 19">
            <a:extLst>
              <a:ext uri="{FF2B5EF4-FFF2-40B4-BE49-F238E27FC236}">
                <a16:creationId xmlns:a16="http://schemas.microsoft.com/office/drawing/2014/main" id="{BAA49748-D4CC-D339-052F-2F112E14A4AF}"/>
              </a:ext>
            </a:extLst>
          </p:cNvPr>
          <p:cNvSpPr txBox="1"/>
          <p:nvPr/>
        </p:nvSpPr>
        <p:spPr>
          <a:xfrm>
            <a:off x="6477000" y="4267200"/>
            <a:ext cx="5257800" cy="254000"/>
          </a:xfrm>
          <a:prstGeom prst="rect">
            <a:avLst/>
          </a:prstGeom>
          <a:noFill/>
        </p:spPr>
        <p:txBody>
          <a:bodyPr vert="horz" wrap="square" lIns="0" tIns="0" rIns="0" bIns="0" rtlCol="0">
            <a:noAutofit/>
          </a:bodyPr>
          <a:lstStyle/>
          <a:p>
            <a:r>
              <a:rPr lang="en-US" sz="1100" b="1">
                <a:solidFill>
                  <a:srgbClr val="F2BD70"/>
                </a:solidFill>
                <a:latin typeface="Aptos" panose="020B0004020202020204" pitchFamily="34" charset="0"/>
              </a:rPr>
              <a:t>NEXT VALIDATION</a:t>
            </a:r>
          </a:p>
        </p:txBody>
      </p:sp>
      <p:sp>
        <p:nvSpPr>
          <p:cNvPr id="21" name="TextBox 20">
            <a:extLst>
              <a:ext uri="{FF2B5EF4-FFF2-40B4-BE49-F238E27FC236}">
                <a16:creationId xmlns:a16="http://schemas.microsoft.com/office/drawing/2014/main" id="{B46B3DBD-41DD-7AFC-1F2F-B26C3FA989F5}"/>
              </a:ext>
            </a:extLst>
          </p:cNvPr>
          <p:cNvSpPr txBox="1"/>
          <p:nvPr/>
        </p:nvSpPr>
        <p:spPr>
          <a:xfrm>
            <a:off x="6477000" y="4635499"/>
            <a:ext cx="5257800" cy="825500"/>
          </a:xfrm>
          <a:prstGeom prst="rect">
            <a:avLst/>
          </a:prstGeom>
          <a:noFill/>
        </p:spPr>
        <p:txBody>
          <a:bodyPr vert="horz" wrap="square" lIns="0" tIns="0" rIns="0" bIns="0" rtlCol="0">
            <a:noAutofit/>
          </a:bodyPr>
          <a:lstStyle/>
          <a:p>
            <a:r>
              <a:rPr lang="en-US">
                <a:solidFill>
                  <a:srgbClr val="F2F6FC"/>
                </a:solidFill>
                <a:latin typeface="Aptos" panose="020B0004020202020204" pitchFamily="34" charset="0"/>
              </a:rPr>
              <a:t>Live connector, graph-agent output and access
Then approve notifications, scale and cost tests</a:t>
            </a:r>
          </a:p>
        </p:txBody>
      </p:sp>
      <p:sp>
        <p:nvSpPr>
          <p:cNvPr id="22" name="Rectangle: Rounded Corners 21">
            <a:extLst>
              <a:ext uri="{FF2B5EF4-FFF2-40B4-BE49-F238E27FC236}">
                <a16:creationId xmlns:a16="http://schemas.microsoft.com/office/drawing/2014/main" id="{AD13CB05-5C5E-69B6-0E31-FAA8CFE0FB55}"/>
              </a:ext>
            </a:extLst>
          </p:cNvPr>
          <p:cNvSpPr/>
          <p:nvPr/>
        </p:nvSpPr>
        <p:spPr>
          <a:xfrm>
            <a:off x="457200" y="5689600"/>
            <a:ext cx="11277600" cy="495300"/>
          </a:xfrm>
          <a:prstGeom prst="roundRect">
            <a:avLst/>
          </a:prstGeom>
          <a:solidFill>
            <a:srgbClr val="131F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05A803B-0F8D-E289-30CC-41E1E74516DC}"/>
              </a:ext>
            </a:extLst>
          </p:cNvPr>
          <p:cNvSpPr txBox="1"/>
          <p:nvPr/>
        </p:nvSpPr>
        <p:spPr>
          <a:xfrm>
            <a:off x="647700" y="5829300"/>
            <a:ext cx="10896600" cy="266700"/>
          </a:xfrm>
          <a:prstGeom prst="rect">
            <a:avLst/>
          </a:prstGeom>
          <a:noFill/>
        </p:spPr>
        <p:txBody>
          <a:bodyPr vert="horz" wrap="square" lIns="0" tIns="0" rIns="0" bIns="0" rtlCol="0">
            <a:noAutofit/>
          </a:bodyPr>
          <a:lstStyle/>
          <a:p>
            <a:r>
              <a:rPr lang="en-US" sz="1500" b="1">
                <a:solidFill>
                  <a:srgbClr val="54D8D0"/>
                </a:solidFill>
                <a:latin typeface="Aptos" panose="020B0004020202020204" pitchFamily="34" charset="0"/>
              </a:rPr>
              <a:t>Agree one compressor workflow and measurable acceptance criteria for the next pilot.</a:t>
            </a:r>
          </a:p>
        </p:txBody>
      </p:sp>
    </p:spTree>
    <p:extLst>
      <p:ext uri="{BB962C8B-B14F-4D97-AF65-F5344CB8AC3E}">
        <p14:creationId xmlns:p14="http://schemas.microsoft.com/office/powerpoint/2010/main" val="4166495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1752</Words>
  <Application>Microsoft Office PowerPoint</Application>
  <PresentationFormat>Custom</PresentationFormat>
  <Paragraphs>155</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Matthieu Lefebvre</dc:creator>
  <cp:lastModifiedBy>Matthieu Lefebvre</cp:lastModifiedBy>
  <cp:revision>1</cp:revision>
  <dcterms:created xsi:type="dcterms:W3CDTF">2026-10-21T14:31:13Z</dcterms:created>
  <dcterms:modified xsi:type="dcterms:W3CDTF">2026-10-21T14:31:13Z</dcterms:modified>
</cp:coreProperties>
</file>